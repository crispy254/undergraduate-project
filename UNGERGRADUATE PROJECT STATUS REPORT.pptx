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78" r:id="rId5"/>
    <p:sldId id="280" r:id="rId6"/>
    <p:sldId id="279" r:id="rId7"/>
    <p:sldId id="281" r:id="rId8"/>
    <p:sldId id="282" r:id="rId9"/>
    <p:sldId id="261" r:id="rId10"/>
    <p:sldId id="27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A82"/>
    <a:srgbClr val="3B8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668" autoAdjust="0"/>
    <p:restoredTop sz="94610"/>
  </p:normalViewPr>
  <p:slideViewPr>
    <p:cSldViewPr snapToGrid="0" snapToObjects="1">
      <p:cViewPr varScale="1">
        <p:scale>
          <a:sx n="111" d="100"/>
          <a:sy n="111" d="100"/>
        </p:scale>
        <p:origin x="10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8602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06962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94301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32335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87370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76031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735122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E243-99D5-2186-8B91-909547304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543F1-1647-CC36-6E0F-C2FFA5C422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4644E-3FD2-36F9-7BAE-A27895DDBB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D2620A-34B3-D52E-4BEC-151AEB8FA55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94777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583738" y="668196"/>
            <a:ext cx="10698480" cy="914400"/>
          </a:xfrm>
          <a:prstGeom prst="rect">
            <a:avLst/>
          </a:prstGeom>
          <a:noFill/>
          <a:ln/>
        </p:spPr>
        <p:txBody>
          <a:bodyPr wrap="square" rtlCol="0" anchor="ctr"/>
          <a:lstStyle/>
          <a:p>
            <a:pPr marL="0" indent="0" algn="l">
              <a:buNone/>
            </a:pPr>
            <a:r>
              <a:rPr lang="ko-KR" altLang="en-US" sz="2200" b="1" dirty="0">
                <a:solidFill>
                  <a:schemeClr val="accent5">
                    <a:lumMod val="40000"/>
                    <a:lumOff val="60000"/>
                  </a:schemeClr>
                </a:solidFill>
                <a:latin typeface="+mj-ea"/>
                <a:ea typeface="+mj-ea"/>
                <a:cs typeface="Calibri" pitchFamily="34" charset="-120"/>
              </a:rPr>
              <a:t>주간 연구 보고</a:t>
            </a:r>
            <a:endParaRPr lang="en-US" sz="2200" dirty="0">
              <a:solidFill>
                <a:schemeClr val="accent5">
                  <a:lumMod val="40000"/>
                  <a:lumOff val="60000"/>
                </a:schemeClr>
              </a:solidFill>
              <a:latin typeface="+mj-ea"/>
              <a:ea typeface="+mj-ea"/>
            </a:endParaRPr>
          </a:p>
        </p:txBody>
      </p:sp>
      <p:sp>
        <p:nvSpPr>
          <p:cNvPr id="3" name="Text 1"/>
          <p:cNvSpPr/>
          <p:nvPr/>
        </p:nvSpPr>
        <p:spPr>
          <a:xfrm>
            <a:off x="731520" y="2759307"/>
            <a:ext cx="10482820" cy="1315559"/>
          </a:xfrm>
          <a:prstGeom prst="rect">
            <a:avLst/>
          </a:prstGeom>
          <a:noFill/>
          <a:ln/>
        </p:spPr>
        <p:txBody>
          <a:bodyPr wrap="square" rtlCol="0" anchor="ctr"/>
          <a:lstStyle/>
          <a:p>
            <a:r>
              <a:rPr lang="en-US" altLang="ko-KR" sz="4000" b="1" kern="100" dirty="0">
                <a:solidFill>
                  <a:schemeClr val="bg1"/>
                </a:solidFill>
                <a:effectLst/>
                <a:latin typeface="Malgun Gothic Semilight" panose="020B0502040204020203" pitchFamily="50" charset="-127"/>
                <a:ea typeface="Malgun Gothic Semilight" panose="020B0502040204020203" pitchFamily="50" charset="-127"/>
                <a:cs typeface="Malgun Gothic Semilight" panose="020B0502040204020203" pitchFamily="50" charset="-127"/>
              </a:rPr>
              <a:t>Project:</a:t>
            </a:r>
            <a:r>
              <a:rPr lang="en-US" altLang="ko-KR" sz="4000" kern="100" dirty="0">
                <a:solidFill>
                  <a:schemeClr val="bg1"/>
                </a:solidFill>
                <a:effectLst/>
                <a:latin typeface="Malgun Gothic Semilight" panose="020B0502040204020203" pitchFamily="50" charset="-127"/>
                <a:ea typeface="Malgun Gothic Semilight" panose="020B0502040204020203" pitchFamily="50" charset="-127"/>
                <a:cs typeface="Malgun Gothic Semilight" panose="020B0502040204020203" pitchFamily="50" charset="-127"/>
              </a:rPr>
              <a:t> LLM-RAG Based Digital Human Counseling System (Nova) </a:t>
            </a:r>
          </a:p>
          <a:p>
            <a:endParaRPr lang="en-US" altLang="ko-KR" sz="4000" kern="100" dirty="0">
              <a:solidFill>
                <a:schemeClr val="bg1"/>
              </a:solidFill>
              <a:effectLst/>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r>
              <a:rPr lang="en-US" altLang="ko-KR" sz="4000" b="1" kern="100" dirty="0">
                <a:solidFill>
                  <a:schemeClr val="bg1"/>
                </a:solidFill>
                <a:effectLst/>
                <a:latin typeface="Malgun Gothic Semilight" panose="020B0502040204020203" pitchFamily="50" charset="-127"/>
                <a:ea typeface="Malgun Gothic Semilight" panose="020B0502040204020203" pitchFamily="50" charset="-127"/>
                <a:cs typeface="Malgun Gothic Semilight" panose="020B0502040204020203" pitchFamily="50" charset="-127"/>
              </a:rPr>
              <a:t>Subject:</a:t>
            </a:r>
            <a:r>
              <a:rPr lang="en-US" altLang="ko-KR" sz="4000" kern="100" dirty="0">
                <a:solidFill>
                  <a:schemeClr val="bg1"/>
                </a:solidFill>
                <a:effectLst/>
                <a:latin typeface="Malgun Gothic Semilight" panose="020B0502040204020203" pitchFamily="50" charset="-127"/>
                <a:ea typeface="Malgun Gothic Semilight" panose="020B0502040204020203" pitchFamily="50" charset="-127"/>
                <a:cs typeface="Malgun Gothic Semilight" panose="020B0502040204020203" pitchFamily="50" charset="-127"/>
              </a:rPr>
              <a:t> AI Academic Success &amp; Wellbeing Companion for Undergraduate Students</a:t>
            </a:r>
            <a:endParaRPr lang="ko-KR" altLang="ko-KR" sz="4000" kern="100" dirty="0">
              <a:solidFill>
                <a:schemeClr val="bg1"/>
              </a:solidFill>
              <a:effectLst/>
              <a:latin typeface="Malgun Gothic Semilight" panose="020B0502040204020203" pitchFamily="50" charset="-127"/>
              <a:ea typeface="Malgun Gothic Semilight" panose="020B0502040204020203" pitchFamily="50" charset="-127"/>
              <a:cs typeface="Malgun Gothic Semilight" panose="020B0502040204020203" pitchFamily="50" charset="-127"/>
            </a:endParaRPr>
          </a:p>
          <a:p>
            <a:endParaRPr lang="en-US" sz="4000" b="1" dirty="0">
              <a:solidFill>
                <a:schemeClr val="bg1"/>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endParaRPr>
          </a:p>
        </p:txBody>
      </p:sp>
      <p:sp>
        <p:nvSpPr>
          <p:cNvPr id="5" name="Text 3"/>
          <p:cNvSpPr/>
          <p:nvPr/>
        </p:nvSpPr>
        <p:spPr>
          <a:xfrm>
            <a:off x="731520" y="4581144"/>
            <a:ext cx="10698480" cy="1828800"/>
          </a:xfrm>
          <a:prstGeom prst="rect">
            <a:avLst/>
          </a:prstGeom>
          <a:noFill/>
          <a:ln/>
        </p:spPr>
        <p:txBody>
          <a:bodyPr wrap="square" rtlCol="0" anchor="ctr"/>
          <a:lstStyle/>
          <a:p>
            <a:pPr marL="0" indent="0">
              <a:spcAft>
                <a:spcPts val="600"/>
              </a:spcAft>
              <a:buNone/>
            </a:pPr>
            <a:r>
              <a:rPr lang="ko-KR" altLang="en-US" sz="1600" dirty="0">
                <a:solidFill>
                  <a:srgbClr val="CADCFC"/>
                </a:solidFill>
                <a:latin typeface="+mj-ea"/>
                <a:ea typeface="+mj-ea"/>
                <a:cs typeface="Calibri" pitchFamily="34" charset="-120"/>
              </a:rPr>
              <a:t>이름</a:t>
            </a:r>
            <a:r>
              <a:rPr lang="en-US" sz="1600" dirty="0">
                <a:solidFill>
                  <a:srgbClr val="CADCFC"/>
                </a:solidFill>
                <a:latin typeface="+mj-ea"/>
                <a:ea typeface="+mj-ea"/>
                <a:cs typeface="Calibri" pitchFamily="34" charset="-120"/>
              </a:rPr>
              <a:t>: </a:t>
            </a:r>
            <a:r>
              <a:rPr lang="en-US" sz="1600" u="sng" dirty="0">
                <a:solidFill>
                  <a:srgbClr val="CADCFC"/>
                </a:solidFill>
                <a:latin typeface="Malgun Gothic Semilight" panose="020B0502040204020203" pitchFamily="34" charset="-128"/>
                <a:ea typeface="Malgun Gothic Semilight" panose="020B0502040204020203" pitchFamily="34" charset="-128"/>
                <a:cs typeface="Malgun Gothic Semilight" panose="020B0502040204020203" pitchFamily="34" charset="-128"/>
              </a:rPr>
              <a:t>Meshack Cheboi</a:t>
            </a:r>
            <a:endParaRPr lang="en-US" sz="1600" u="sng" dirty="0">
              <a:latin typeface="Malgun Gothic Semilight" panose="020B0502040204020203" pitchFamily="34" charset="-128"/>
              <a:ea typeface="Malgun Gothic Semilight" panose="020B0502040204020203" pitchFamily="34" charset="-128"/>
              <a:cs typeface="Malgun Gothic Semilight" panose="020B0502040204020203" pitchFamily="34" charset="-128"/>
            </a:endParaRPr>
          </a:p>
          <a:p>
            <a:pPr marL="0" indent="0">
              <a:spcAft>
                <a:spcPts val="600"/>
              </a:spcAft>
              <a:buNone/>
            </a:pPr>
            <a:r>
              <a:rPr lang="ko-KR" altLang="en-US" sz="1600" dirty="0">
                <a:solidFill>
                  <a:srgbClr val="CADCFC"/>
                </a:solidFill>
                <a:latin typeface="+mj-ea"/>
                <a:ea typeface="+mj-ea"/>
                <a:cs typeface="Calibri" pitchFamily="34" charset="-120"/>
              </a:rPr>
              <a:t>보고일</a:t>
            </a:r>
            <a:r>
              <a:rPr lang="en-US" sz="1600" dirty="0">
                <a:solidFill>
                  <a:srgbClr val="CADCFC"/>
                </a:solidFill>
                <a:latin typeface="+mj-ea"/>
                <a:ea typeface="+mj-ea"/>
                <a:cs typeface="Calibri" pitchFamily="34" charset="-120"/>
              </a:rPr>
              <a:t>: (2026-04-08)</a:t>
            </a:r>
            <a:endParaRPr lang="en-US" sz="1600" dirty="0">
              <a:latin typeface="+mj-ea"/>
              <a:ea typeface="+mj-ea"/>
            </a:endParaRPr>
          </a:p>
        </p:txBody>
      </p:sp>
      <p:sp>
        <p:nvSpPr>
          <p:cNvPr id="6" name="Text 4"/>
          <p:cNvSpPr/>
          <p:nvPr/>
        </p:nvSpPr>
        <p:spPr>
          <a:xfrm>
            <a:off x="731520" y="6217920"/>
            <a:ext cx="10698480" cy="365760"/>
          </a:xfrm>
          <a:prstGeom prst="rect">
            <a:avLst/>
          </a:prstGeom>
          <a:noFill/>
          <a:ln/>
        </p:spPr>
        <p:txBody>
          <a:bodyPr wrap="square" rtlCol="0" anchor="ctr"/>
          <a:lstStyle/>
          <a:p>
            <a:pPr marL="0" indent="0" algn="l">
              <a:buNone/>
            </a:pPr>
            <a:r>
              <a:rPr lang="en-US" sz="1200" dirty="0">
                <a:solidFill>
                  <a:srgbClr val="64748B"/>
                </a:solidFill>
                <a:latin typeface="+mj-ea"/>
                <a:ea typeface="+mj-ea"/>
                <a:cs typeface="Calibri" pitchFamily="34" charset="-120"/>
              </a:rPr>
              <a:t>Prof. Kim — ICLAB</a:t>
            </a:r>
            <a:endParaRPr lang="en-US" sz="1200" dirty="0">
              <a:latin typeface="+mj-ea"/>
              <a:ea typeface="+mj-ea"/>
            </a:endParaRPr>
          </a:p>
        </p:txBody>
      </p:sp>
      <p:sp>
        <p:nvSpPr>
          <p:cNvPr id="15" name="Shape 3">
            <a:extLst>
              <a:ext uri="{FF2B5EF4-FFF2-40B4-BE49-F238E27FC236}">
                <a16:creationId xmlns:a16="http://schemas.microsoft.com/office/drawing/2014/main" id="{10E3F218-0BAB-3844-B479-3FEABAB6C3A9}"/>
              </a:ext>
            </a:extLst>
          </p:cNvPr>
          <p:cNvSpPr/>
          <p:nvPr/>
        </p:nvSpPr>
        <p:spPr>
          <a:xfrm rot="5400000">
            <a:off x="525333" y="2147647"/>
            <a:ext cx="365761" cy="46609"/>
          </a:xfrm>
          <a:prstGeom prst="rect">
            <a:avLst/>
          </a:prstGeom>
          <a:solidFill>
            <a:srgbClr val="F59E0B"/>
          </a:solidFill>
          <a:ln w="12700">
            <a:solidFill>
              <a:srgbClr val="F59E0B"/>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Shape 3"/>
          <p:cNvSpPr/>
          <p:nvPr/>
        </p:nvSpPr>
        <p:spPr>
          <a:xfrm>
            <a:off x="579120" y="2011680"/>
            <a:ext cx="11064240" cy="4114800"/>
          </a:xfrm>
          <a:prstGeom prst="rect">
            <a:avLst/>
          </a:prstGeom>
          <a:solidFill>
            <a:srgbClr val="F0F4F8"/>
          </a:solidFill>
          <a:ln w="12700">
            <a:solidFill>
              <a:srgbClr val="F0F4F8"/>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42234738-56FB-20E6-2C44-E68A707733F5}"/>
              </a:ext>
            </a:extLst>
          </p:cNvPr>
          <p:cNvSpPr/>
          <p:nvPr/>
        </p:nvSpPr>
        <p:spPr>
          <a:xfrm>
            <a:off x="621792" y="2179895"/>
            <a:ext cx="11052738" cy="3900865"/>
          </a:xfrm>
          <a:prstGeom prst="rect">
            <a:avLst/>
          </a:prstGeom>
          <a:solidFill>
            <a:srgbClr val="FFFFFF"/>
          </a:solidFill>
          <a:ln w="19050">
            <a:solidFill>
              <a:srgbClr val="1C7293"/>
            </a:solidFill>
            <a:prstDash val="dash"/>
          </a:ln>
        </p:spPr>
        <p:txBody>
          <a:bodyPr/>
          <a:lstStyle/>
          <a:p>
            <a:endParaRPr lang="en-US">
              <a:latin typeface="Times New Roman" panose="02020603050405020304" pitchFamily="18" charset="0"/>
              <a:cs typeface="Times New Roman" panose="02020603050405020304" pitchFamily="18" charset="0"/>
            </a:endParaRPr>
          </a:p>
        </p:txBody>
      </p:sp>
      <p:sp>
        <p:nvSpPr>
          <p:cNvPr id="2" name="Text 0"/>
          <p:cNvSpPr/>
          <p:nvPr/>
        </p:nvSpPr>
        <p:spPr>
          <a:xfrm>
            <a:off x="548640" y="365760"/>
            <a:ext cx="731520" cy="457200"/>
          </a:xfrm>
          <a:prstGeom prst="rect">
            <a:avLst/>
          </a:prstGeom>
          <a:noFill/>
          <a:ln/>
        </p:spPr>
        <p:txBody>
          <a:bodyPr wrap="square" rtlCol="0" anchor="ctr"/>
          <a:lstStyle/>
          <a:p>
            <a:pPr marL="0" indent="0">
              <a:buNone/>
            </a:pPr>
            <a:r>
              <a:rPr lang="en-US" sz="1400" b="1" dirty="0">
                <a:solidFill>
                  <a:srgbClr val="F59E0B"/>
                </a:solidFill>
                <a:latin typeface="Times New Roman" panose="02020603050405020304" pitchFamily="18" charset="0"/>
                <a:ea typeface="+mj-ea"/>
                <a:cs typeface="Times New Roman" panose="02020603050405020304" pitchFamily="18" charset="0"/>
              </a:rPr>
              <a:t>01</a:t>
            </a:r>
            <a:endParaRPr lang="en-US" sz="1400" dirty="0">
              <a:latin typeface="Times New Roman" panose="02020603050405020304" pitchFamily="18" charset="0"/>
              <a:ea typeface="+mj-ea"/>
              <a:cs typeface="Times New Roman" panose="02020603050405020304" pitchFamily="18" charset="0"/>
            </a:endParaRPr>
          </a:p>
        </p:txBody>
      </p:sp>
      <p:sp>
        <p:nvSpPr>
          <p:cNvPr id="3" name="Text 1"/>
          <p:cNvSpPr/>
          <p:nvPr/>
        </p:nvSpPr>
        <p:spPr>
          <a:xfrm>
            <a:off x="548640" y="777240"/>
            <a:ext cx="10972800" cy="640080"/>
          </a:xfrm>
          <a:prstGeom prst="rect">
            <a:avLst/>
          </a:prstGeom>
          <a:noFill/>
          <a:ln/>
        </p:spPr>
        <p:txBody>
          <a:bodyPr wrap="square" lIns="0" tIns="0" rIns="0" bIns="0" rtlCol="0" anchor="ctr"/>
          <a:lstStyle/>
          <a:p>
            <a:pPr latinLnBrk="1">
              <a:spcAft>
                <a:spcPts val="800"/>
              </a:spcAft>
            </a:pPr>
            <a:r>
              <a:rPr lang="en-US" altLang="ko-KR" sz="30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Summary</a:t>
            </a:r>
            <a:endParaRPr lang="ko-KR" altLang="ko-KR" sz="30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4" name="Text 2"/>
          <p:cNvSpPr/>
          <p:nvPr/>
        </p:nvSpPr>
        <p:spPr>
          <a:xfrm>
            <a:off x="548640" y="1417320"/>
            <a:ext cx="10972800" cy="365760"/>
          </a:xfrm>
          <a:prstGeom prst="rect">
            <a:avLst/>
          </a:prstGeom>
          <a:noFill/>
          <a:ln/>
        </p:spPr>
        <p:txBody>
          <a:bodyPr wrap="square" rtlCol="0" anchor="ctr"/>
          <a:lstStyle/>
          <a:p>
            <a:pPr marL="0" indent="0">
              <a:buNone/>
            </a:pPr>
            <a:r>
              <a:rPr lang="en-US" sz="1400" i="1" dirty="0">
                <a:solidFill>
                  <a:srgbClr val="64748B"/>
                </a:solidFill>
                <a:latin typeface="Times New Roman" panose="02020603050405020304" pitchFamily="18" charset="0"/>
                <a:ea typeface="+mj-ea"/>
                <a:cs typeface="Times New Roman" panose="02020603050405020304" pitchFamily="18" charset="0"/>
              </a:rPr>
              <a:t>Date: 2026-04-08</a:t>
            </a:r>
            <a:endParaRPr lang="en-US" sz="1400" dirty="0">
              <a:latin typeface="Times New Roman" panose="02020603050405020304" pitchFamily="18" charset="0"/>
              <a:ea typeface="+mj-ea"/>
              <a:cs typeface="Times New Roman" panose="02020603050405020304" pitchFamily="18" charset="0"/>
            </a:endParaRPr>
          </a:p>
        </p:txBody>
      </p:sp>
      <p:sp>
        <p:nvSpPr>
          <p:cNvPr id="6" name="Shape 4"/>
          <p:cNvSpPr/>
          <p:nvPr/>
        </p:nvSpPr>
        <p:spPr>
          <a:xfrm>
            <a:off x="548640" y="2011680"/>
            <a:ext cx="73152" cy="4114800"/>
          </a:xfrm>
          <a:prstGeom prst="rect">
            <a:avLst/>
          </a:prstGeom>
          <a:solidFill>
            <a:srgbClr val="1C7293"/>
          </a:solidFill>
          <a:ln w="12700">
            <a:solidFill>
              <a:srgbClr val="1C729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Text 7"/>
          <p:cNvSpPr/>
          <p:nvPr/>
        </p:nvSpPr>
        <p:spPr>
          <a:xfrm>
            <a:off x="829056" y="2319023"/>
            <a:ext cx="10607040" cy="457200"/>
          </a:xfrm>
          <a:prstGeom prst="rect">
            <a:avLst/>
          </a:prstGeom>
          <a:noFill/>
          <a:ln/>
        </p:spPr>
        <p:txBody>
          <a:bodyPr wrap="square" rtlCol="0" anchor="ctr"/>
          <a:lstStyle/>
          <a:p>
            <a:pPr marL="0" indent="0">
              <a:buNone/>
            </a:pPr>
            <a:r>
              <a:rPr lang="en-US" altLang="ko-KR" sz="1600" b="1" dirty="0">
                <a:solidFill>
                  <a:srgbClr val="065A82"/>
                </a:solidFill>
                <a:effectLst/>
                <a:latin typeface="Times New Roman" panose="02020603050405020304" pitchFamily="18" charset="0"/>
                <a:cs typeface="Times New Roman" panose="02020603050405020304" pitchFamily="18" charset="0"/>
              </a:rPr>
              <a:t>Progress Overview</a:t>
            </a:r>
            <a:endParaRPr lang="en-US" sz="1600" dirty="0">
              <a:solidFill>
                <a:srgbClr val="065A82"/>
              </a:solidFill>
              <a:latin typeface="Times New Roman" panose="02020603050405020304" pitchFamily="18" charset="0"/>
              <a:ea typeface="+mj-ea"/>
              <a:cs typeface="Times New Roman" panose="02020603050405020304" pitchFamily="18" charset="0"/>
            </a:endParaRPr>
          </a:p>
        </p:txBody>
      </p:sp>
      <p:sp>
        <p:nvSpPr>
          <p:cNvPr id="12" name="TextBox 11">
            <a:extLst>
              <a:ext uri="{FF2B5EF4-FFF2-40B4-BE49-F238E27FC236}">
                <a16:creationId xmlns:a16="http://schemas.microsoft.com/office/drawing/2014/main" id="{CEC10FD3-0F27-1142-1180-22A025F3E975}"/>
              </a:ext>
            </a:extLst>
          </p:cNvPr>
          <p:cNvSpPr txBox="1"/>
          <p:nvPr/>
        </p:nvSpPr>
        <p:spPr>
          <a:xfrm>
            <a:off x="676023" y="3127912"/>
            <a:ext cx="5036274" cy="2062103"/>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Core functionality proposed in the original project has been successfully implemented.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Complete end-to-end conversational AI pipeline is operational.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Supports both English and Korean interactions.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Supports both text and voice conversations.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14" name="TextBox 13">
            <a:extLst>
              <a:ext uri="{FF2B5EF4-FFF2-40B4-BE49-F238E27FC236}">
                <a16:creationId xmlns:a16="http://schemas.microsoft.com/office/drawing/2014/main" id="{2DDF9CED-FEC2-6372-0198-6776D1D4D88E}"/>
              </a:ext>
            </a:extLst>
          </p:cNvPr>
          <p:cNvSpPr txBox="1"/>
          <p:nvPr/>
        </p:nvSpPr>
        <p:spPr>
          <a:xfrm>
            <a:off x="5712297" y="2547623"/>
            <a:ext cx="6094562" cy="3170099"/>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Responses are generated using a </a:t>
            </a:r>
            <a:r>
              <a:rPr lang="en-US" altLang="ko-KR" kern="100" dirty="0" err="1">
                <a:effectLst/>
                <a:latin typeface="Times New Roman" panose="02020603050405020304" pitchFamily="18" charset="0"/>
                <a:ea typeface="맑은 고딕" panose="020B0503020000020004" pitchFamily="50" charset="-127"/>
                <a:cs typeface="Times New Roman" panose="02020603050405020304" pitchFamily="18" charset="0"/>
              </a:rPr>
              <a:t>LoRA</a:t>
            </a: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 fine-tuned Meta Llama 3.2 3B Instruct model integrated with a Retrieval-Augmented Generation (RAG) pipeline.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Counseling responses are grounded using a local semantic knowledge base rather than relying solely on the language model.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Conversation history, emotion trends, and user sessions are persistently stored.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Only the Digital Human Avatar integration remains to complete the original project architecture.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12" name="Shape 6">
            <a:extLst>
              <a:ext uri="{FF2B5EF4-FFF2-40B4-BE49-F238E27FC236}">
                <a16:creationId xmlns:a16="http://schemas.microsoft.com/office/drawing/2014/main" id="{AF40F4BB-9DE1-DEE6-454C-E72F05E430E7}"/>
              </a:ext>
            </a:extLst>
          </p:cNvPr>
          <p:cNvSpPr/>
          <p:nvPr/>
        </p:nvSpPr>
        <p:spPr>
          <a:xfrm>
            <a:off x="441961" y="1595890"/>
            <a:ext cx="11750039" cy="5262110"/>
          </a:xfrm>
          <a:prstGeom prst="rect">
            <a:avLst/>
          </a:prstGeom>
          <a:solidFill>
            <a:srgbClr val="FFFFFF"/>
          </a:solidFill>
          <a:ln w="19050">
            <a:solidFill>
              <a:srgbClr val="1C7293"/>
            </a:solidFill>
            <a:prstDash val="dash"/>
          </a:ln>
        </p:spPr>
        <p:txBody>
          <a:bodyPr/>
          <a:lstStyle/>
          <a:p>
            <a:endParaRPr lang="en-US">
              <a:latin typeface="Times New Roman" panose="02020603050405020304" pitchFamily="18" charset="0"/>
              <a:cs typeface="Times New Roman" panose="02020603050405020304" pitchFamily="18" charset="0"/>
            </a:endParaRPr>
          </a:p>
        </p:txBody>
      </p:sp>
      <p:sp>
        <p:nvSpPr>
          <p:cNvPr id="2" name="Text 0"/>
          <p:cNvSpPr/>
          <p:nvPr/>
        </p:nvSpPr>
        <p:spPr>
          <a:xfrm>
            <a:off x="548640" y="365761"/>
            <a:ext cx="731520" cy="457200"/>
          </a:xfrm>
          <a:prstGeom prst="rect">
            <a:avLst/>
          </a:prstGeom>
          <a:noFill/>
          <a:ln/>
        </p:spPr>
        <p:txBody>
          <a:bodyPr wrap="square" rtlCol="0" anchor="ctr"/>
          <a:lstStyle/>
          <a:p>
            <a:pPr marL="0" indent="0">
              <a:buNone/>
            </a:pPr>
            <a:r>
              <a:rPr lang="en-US" sz="1400" b="1" dirty="0">
                <a:solidFill>
                  <a:srgbClr val="F59E0B"/>
                </a:solidFill>
                <a:latin typeface="Times New Roman" panose="02020603050405020304" pitchFamily="18" charset="0"/>
                <a:ea typeface="+mj-ea"/>
                <a:cs typeface="Times New Roman" panose="02020603050405020304" pitchFamily="18" charset="0"/>
              </a:rPr>
              <a:t>02</a:t>
            </a:r>
            <a:endParaRPr lang="en-US" sz="1400" dirty="0">
              <a:latin typeface="Times New Roman" panose="02020603050405020304" pitchFamily="18" charset="0"/>
              <a:ea typeface="+mj-ea"/>
              <a:cs typeface="Times New Roman" panose="02020603050405020304" pitchFamily="18" charset="0"/>
            </a:endParaRPr>
          </a:p>
        </p:txBody>
      </p:sp>
      <p:sp>
        <p:nvSpPr>
          <p:cNvPr id="3" name="Text 1"/>
          <p:cNvSpPr/>
          <p:nvPr/>
        </p:nvSpPr>
        <p:spPr>
          <a:xfrm>
            <a:off x="548640" y="627104"/>
            <a:ext cx="10972800" cy="640080"/>
          </a:xfrm>
          <a:prstGeom prst="rect">
            <a:avLst/>
          </a:prstGeom>
          <a:noFill/>
          <a:ln/>
        </p:spPr>
        <p:txBody>
          <a:bodyPr wrap="square" lIns="0" tIns="0" rIns="0" bIns="0" rtlCol="0" anchor="ctr"/>
          <a:lstStyle/>
          <a:p>
            <a:pPr marL="0" indent="0">
              <a:buNone/>
            </a:pPr>
            <a:r>
              <a:rPr lang="en-US" sz="3000" b="1" dirty="0">
                <a:solidFill>
                  <a:srgbClr val="065A82"/>
                </a:solidFill>
                <a:latin typeface="Times New Roman" panose="02020603050405020304" pitchFamily="18" charset="0"/>
                <a:ea typeface="+mj-ea"/>
                <a:cs typeface="Times New Roman" panose="02020603050405020304" pitchFamily="18" charset="0"/>
              </a:rPr>
              <a:t>Overview</a:t>
            </a:r>
            <a:endParaRPr lang="en-US" sz="3000" dirty="0">
              <a:latin typeface="Times New Roman" panose="02020603050405020304" pitchFamily="18" charset="0"/>
              <a:ea typeface="+mj-ea"/>
              <a:cs typeface="Times New Roman" panose="02020603050405020304" pitchFamily="18" charset="0"/>
            </a:endParaRPr>
          </a:p>
        </p:txBody>
      </p:sp>
      <p:sp>
        <p:nvSpPr>
          <p:cNvPr id="4" name="Text 2"/>
          <p:cNvSpPr/>
          <p:nvPr/>
        </p:nvSpPr>
        <p:spPr>
          <a:xfrm>
            <a:off x="441961" y="1162767"/>
            <a:ext cx="5486400" cy="365760"/>
          </a:xfrm>
          <a:prstGeom prst="rect">
            <a:avLst/>
          </a:prstGeom>
          <a:noFill/>
          <a:ln/>
        </p:spPr>
        <p:txBody>
          <a:bodyPr wrap="square" rtlCol="0" anchor="ctr"/>
          <a:lstStyle/>
          <a:p>
            <a:pPr latinLnBrk="1">
              <a:spcAft>
                <a:spcPts val="800"/>
              </a:spcAft>
            </a:pPr>
            <a:r>
              <a:rPr lang="en-US" altLang="ko-KR" sz="18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Completed Components</a:t>
            </a:r>
            <a:endParaRPr lang="ko-KR" altLang="ko-KR" sz="18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9" name="Text 7"/>
          <p:cNvSpPr/>
          <p:nvPr/>
        </p:nvSpPr>
        <p:spPr>
          <a:xfrm>
            <a:off x="6248400" y="4888466"/>
            <a:ext cx="5394960" cy="1371600"/>
          </a:xfrm>
          <a:prstGeom prst="rect">
            <a:avLst/>
          </a:prstGeom>
          <a:noFill/>
          <a:ln/>
        </p:spPr>
        <p:txBody>
          <a:bodyPr wrap="square" rtlCol="0" anchor="ctr"/>
          <a:lstStyle/>
          <a:p>
            <a:pPr marL="0" indent="0" algn="ctr">
              <a:buNone/>
            </a:pPr>
            <a:r>
              <a:rPr lang="en-US" sz="1300" i="1" dirty="0">
                <a:solidFill>
                  <a:srgbClr val="64748B"/>
                </a:solidFill>
                <a:latin typeface="Times New Roman" panose="02020603050405020304" pitchFamily="18" charset="0"/>
                <a:ea typeface="Malgun Gothic Semilight" panose="020B0502040204020203" pitchFamily="34" charset="-128"/>
                <a:cs typeface="Times New Roman" panose="02020603050405020304" pitchFamily="18" charset="0"/>
              </a:rPr>
              <a:t>,</a:t>
            </a:r>
            <a:endParaRPr lang="en-US" sz="1300" dirty="0">
              <a:latin typeface="Times New Roman" panose="02020603050405020304" pitchFamily="18" charset="0"/>
              <a:ea typeface="Malgun Gothic Semilight" panose="020B0502040204020203" pitchFamily="34" charset="-128"/>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D70C96C2-AB08-D714-E2ED-CDBF1DC3BEB7}"/>
              </a:ext>
            </a:extLst>
          </p:cNvPr>
          <p:cNvCxnSpPr/>
          <p:nvPr/>
        </p:nvCxnSpPr>
        <p:spPr>
          <a:xfrm>
            <a:off x="11638495" y="2180255"/>
            <a:ext cx="0" cy="215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B301EEBE-433D-7A5A-82E0-DDA2C0C370B1}"/>
              </a:ext>
            </a:extLst>
          </p:cNvPr>
          <p:cNvCxnSpPr/>
          <p:nvPr/>
        </p:nvCxnSpPr>
        <p:spPr>
          <a:xfrm flipH="1" flipV="1">
            <a:off x="11602085" y="8739506"/>
            <a:ext cx="5397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6" name="Table 5">
            <a:extLst>
              <a:ext uri="{FF2B5EF4-FFF2-40B4-BE49-F238E27FC236}">
                <a16:creationId xmlns:a16="http://schemas.microsoft.com/office/drawing/2014/main" id="{48FD1C6D-5BB5-D52E-45CD-BA4A1CC9D20B}"/>
              </a:ext>
            </a:extLst>
          </p:cNvPr>
          <p:cNvGraphicFramePr>
            <a:graphicFrameLocks noGrp="1"/>
          </p:cNvGraphicFramePr>
          <p:nvPr>
            <p:extLst>
              <p:ext uri="{D42A27DB-BD31-4B8C-83A1-F6EECF244321}">
                <p14:modId xmlns:p14="http://schemas.microsoft.com/office/powerpoint/2010/main" val="3780902151"/>
              </p:ext>
            </p:extLst>
          </p:nvPr>
        </p:nvGraphicFramePr>
        <p:xfrm>
          <a:off x="485091" y="1647646"/>
          <a:ext cx="11656744" cy="5124086"/>
        </p:xfrm>
        <a:graphic>
          <a:graphicData uri="http://schemas.openxmlformats.org/drawingml/2006/table">
            <a:tbl>
              <a:tblPr firstRow="1" firstCol="1" bandRow="1">
                <a:tableStyleId>{5C22544A-7EE6-4342-B048-85BDC9FD1C3A}</a:tableStyleId>
              </a:tblPr>
              <a:tblGrid>
                <a:gridCol w="3885581">
                  <a:extLst>
                    <a:ext uri="{9D8B030D-6E8A-4147-A177-3AD203B41FA5}">
                      <a16:colId xmlns:a16="http://schemas.microsoft.com/office/drawing/2014/main" val="2869541084"/>
                    </a:ext>
                  </a:extLst>
                </a:gridCol>
                <a:gridCol w="1969743">
                  <a:extLst>
                    <a:ext uri="{9D8B030D-6E8A-4147-A177-3AD203B41FA5}">
                      <a16:colId xmlns:a16="http://schemas.microsoft.com/office/drawing/2014/main" val="2287326176"/>
                    </a:ext>
                  </a:extLst>
                </a:gridCol>
                <a:gridCol w="5801420">
                  <a:extLst>
                    <a:ext uri="{9D8B030D-6E8A-4147-A177-3AD203B41FA5}">
                      <a16:colId xmlns:a16="http://schemas.microsoft.com/office/drawing/2014/main" val="4154217671"/>
                    </a:ext>
                  </a:extLst>
                </a:gridCol>
              </a:tblGrid>
              <a:tr h="558302">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Architecture Component</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Status</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Exact Models / Technologies Used</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499617495"/>
                  </a:ext>
                </a:extLst>
              </a:tr>
              <a:tr h="558302">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User Interface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React (Web), bilingual English/Korean interface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147471055"/>
                  </a:ext>
                </a:extLst>
              </a:tr>
              <a:tr h="558302">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Core LLM</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Meta Llama 3.2 3B Instruct, LoRA Fine-tuned (nova-counseling), served locally via Ollama</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3909321019"/>
                  </a:ext>
                </a:extLst>
              </a:tr>
              <a:tr h="558302">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Fine-tuning Datasets</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err="1">
                          <a:effectLst/>
                          <a:latin typeface="Times New Roman" panose="02020603050405020304" pitchFamily="18" charset="0"/>
                          <a:cs typeface="Times New Roman" panose="02020603050405020304" pitchFamily="18" charset="0"/>
                        </a:rPr>
                        <a:t>CounselChat</a:t>
                      </a:r>
                      <a:r>
                        <a:rPr lang="en-US" sz="1500" kern="100" dirty="0">
                          <a:effectLst/>
                          <a:latin typeface="Times New Roman" panose="02020603050405020304" pitchFamily="18" charset="0"/>
                          <a:cs typeface="Times New Roman" panose="02020603050405020304" pitchFamily="18" charset="0"/>
                        </a:rPr>
                        <a:t>, </a:t>
                      </a:r>
                      <a:r>
                        <a:rPr lang="en-US" sz="1500" kern="100" dirty="0" err="1">
                          <a:effectLst/>
                          <a:latin typeface="Times New Roman" panose="02020603050405020304" pitchFamily="18" charset="0"/>
                          <a:cs typeface="Times New Roman" panose="02020603050405020304" pitchFamily="18" charset="0"/>
                        </a:rPr>
                        <a:t>ESConv</a:t>
                      </a:r>
                      <a:r>
                        <a:rPr lang="en-US" sz="1500" kern="100" dirty="0">
                          <a:effectLst/>
                          <a:latin typeface="Times New Roman" panose="02020603050405020304" pitchFamily="18" charset="0"/>
                          <a:cs typeface="Times New Roman" panose="02020603050405020304" pitchFamily="18" charset="0"/>
                        </a:rPr>
                        <a:t>, MentalChat16K, </a:t>
                      </a:r>
                      <a:r>
                        <a:rPr lang="en-US" sz="1500" kern="100" dirty="0" err="1">
                          <a:effectLst/>
                          <a:latin typeface="Times New Roman" panose="02020603050405020304" pitchFamily="18" charset="0"/>
                          <a:cs typeface="Times New Roman" panose="02020603050405020304" pitchFamily="18" charset="0"/>
                        </a:rPr>
                        <a:t>Amod</a:t>
                      </a:r>
                      <a:r>
                        <a:rPr lang="en-US" sz="1500" kern="100" dirty="0">
                          <a:effectLst/>
                          <a:latin typeface="Times New Roman" panose="02020603050405020304" pitchFamily="18" charset="0"/>
                          <a:cs typeface="Times New Roman" panose="02020603050405020304" pitchFamily="18" charset="0"/>
                        </a:rPr>
                        <a:t> Mental Health Counseling Conversations</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842859800"/>
                  </a:ext>
                </a:extLst>
              </a:tr>
              <a:tr h="558302">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Prompt Engineering</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Persona-based prompting, dialogue management, context-aware prompt construction</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344749885"/>
                  </a:ext>
                </a:extLst>
              </a:tr>
              <a:tr h="1215972">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Retrieval-Augmented Generation</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 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Generator: Meta Llama 3.2 3B Instruct (</a:t>
                      </a:r>
                      <a:r>
                        <a:rPr lang="en-US" sz="1500" kern="100" dirty="0" err="1">
                          <a:effectLst/>
                          <a:latin typeface="Times New Roman" panose="02020603050405020304" pitchFamily="18" charset="0"/>
                          <a:cs typeface="Times New Roman" panose="02020603050405020304" pitchFamily="18" charset="0"/>
                        </a:rPr>
                        <a:t>LoRA</a:t>
                      </a:r>
                      <a:r>
                        <a:rPr lang="en-US" sz="1500" kern="100" dirty="0">
                          <a:effectLst/>
                          <a:latin typeface="Times New Roman" panose="02020603050405020304" pitchFamily="18" charset="0"/>
                          <a:cs typeface="Times New Roman" panose="02020603050405020304" pitchFamily="18" charset="0"/>
                        </a:rPr>
                        <a:t> Fine-tuned)</a:t>
                      </a:r>
                      <a:br>
                        <a:rPr lang="en-US" sz="1500" kern="100" dirty="0">
                          <a:effectLst/>
                          <a:latin typeface="Times New Roman" panose="02020603050405020304" pitchFamily="18" charset="0"/>
                          <a:cs typeface="Times New Roman" panose="02020603050405020304" pitchFamily="18" charset="0"/>
                        </a:rPr>
                      </a:br>
                      <a:r>
                        <a:rPr lang="en-US" sz="1500" kern="100" dirty="0">
                          <a:effectLst/>
                          <a:latin typeface="Times New Roman" panose="02020603050405020304" pitchFamily="18" charset="0"/>
                          <a:cs typeface="Times New Roman" panose="02020603050405020304" pitchFamily="18" charset="0"/>
                        </a:rPr>
                        <a:t>Embedding Model: nomic-embed-text (</a:t>
                      </a:r>
                      <a:r>
                        <a:rPr lang="en-US" sz="1500" kern="100" dirty="0" err="1">
                          <a:effectLst/>
                          <a:latin typeface="Times New Roman" panose="02020603050405020304" pitchFamily="18" charset="0"/>
                          <a:cs typeface="Times New Roman" panose="02020603050405020304" pitchFamily="18" charset="0"/>
                        </a:rPr>
                        <a:t>Ollama</a:t>
                      </a:r>
                      <a:r>
                        <a:rPr lang="en-US" sz="1500" kern="100" dirty="0">
                          <a:effectLst/>
                          <a:latin typeface="Times New Roman" panose="02020603050405020304" pitchFamily="18" charset="0"/>
                          <a:cs typeface="Times New Roman" panose="02020603050405020304" pitchFamily="18" charset="0"/>
                        </a:rPr>
                        <a:t>)</a:t>
                      </a:r>
                      <a:br>
                        <a:rPr lang="en-US" sz="1500" kern="100" dirty="0">
                          <a:effectLst/>
                          <a:latin typeface="Times New Roman" panose="02020603050405020304" pitchFamily="18" charset="0"/>
                          <a:cs typeface="Times New Roman" panose="02020603050405020304" pitchFamily="18" charset="0"/>
                        </a:rPr>
                      </a:br>
                      <a:r>
                        <a:rPr lang="en-US" sz="1500" kern="100" dirty="0">
                          <a:effectLst/>
                          <a:latin typeface="Times New Roman" panose="02020603050405020304" pitchFamily="18" charset="0"/>
                          <a:cs typeface="Times New Roman" panose="02020603050405020304" pitchFamily="18" charset="0"/>
                        </a:rPr>
                        <a:t>Vector Database: </a:t>
                      </a:r>
                      <a:r>
                        <a:rPr lang="en-US" sz="1500" kern="100" dirty="0" err="1">
                          <a:effectLst/>
                          <a:latin typeface="Times New Roman" panose="02020603050405020304" pitchFamily="18" charset="0"/>
                          <a:cs typeface="Times New Roman" panose="02020603050405020304" pitchFamily="18" charset="0"/>
                        </a:rPr>
                        <a:t>ChromaDB</a:t>
                      </a:r>
                      <a:br>
                        <a:rPr lang="en-US" sz="1500" kern="100" dirty="0">
                          <a:effectLst/>
                          <a:latin typeface="Times New Roman" panose="02020603050405020304" pitchFamily="18" charset="0"/>
                          <a:cs typeface="Times New Roman" panose="02020603050405020304" pitchFamily="18" charset="0"/>
                        </a:rPr>
                      </a:br>
                      <a:r>
                        <a:rPr lang="en-US" sz="1500" kern="100" dirty="0">
                          <a:effectLst/>
                          <a:latin typeface="Times New Roman" panose="02020603050405020304" pitchFamily="18" charset="0"/>
                          <a:cs typeface="Times New Roman" panose="02020603050405020304" pitchFamily="18" charset="0"/>
                        </a:rPr>
                        <a:t>Retrieval: Top-3 semantic similarity search</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302184900"/>
                  </a:ext>
                </a:extLst>
              </a:tr>
              <a:tr h="558302">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Knowledge Base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Stress &amp; Psychology, Career &amp; Employment, University Information</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19907255"/>
                  </a:ext>
                </a:extLst>
              </a:tr>
              <a:tr h="558302">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Speech-to-Text (STT)</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faster-whisper using the Whisper Base model (offline CPU inference)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353522514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hape 6">
            <a:extLst>
              <a:ext uri="{FF2B5EF4-FFF2-40B4-BE49-F238E27FC236}">
                <a16:creationId xmlns:a16="http://schemas.microsoft.com/office/drawing/2014/main" id="{AF40F4BB-9DE1-DEE6-454C-E72F05E430E7}"/>
              </a:ext>
            </a:extLst>
          </p:cNvPr>
          <p:cNvSpPr/>
          <p:nvPr/>
        </p:nvSpPr>
        <p:spPr>
          <a:xfrm>
            <a:off x="441961" y="1563931"/>
            <a:ext cx="11750039" cy="5294068"/>
          </a:xfrm>
          <a:prstGeom prst="rect">
            <a:avLst/>
          </a:prstGeom>
          <a:solidFill>
            <a:srgbClr val="FFFFFF"/>
          </a:solidFill>
          <a:ln w="19050">
            <a:solidFill>
              <a:srgbClr val="1C7293"/>
            </a:solidFill>
            <a:prstDash val="dash"/>
          </a:ln>
        </p:spPr>
        <p:txBody>
          <a:bodyPr/>
          <a:lstStyle/>
          <a:p>
            <a:endParaRPr lang="en-US">
              <a:latin typeface="Times New Roman" panose="02020603050405020304" pitchFamily="18" charset="0"/>
              <a:cs typeface="Times New Roman" panose="02020603050405020304" pitchFamily="18" charset="0"/>
            </a:endParaRPr>
          </a:p>
        </p:txBody>
      </p:sp>
      <p:sp>
        <p:nvSpPr>
          <p:cNvPr id="2" name="Text 0"/>
          <p:cNvSpPr/>
          <p:nvPr/>
        </p:nvSpPr>
        <p:spPr>
          <a:xfrm>
            <a:off x="548640" y="365760"/>
            <a:ext cx="731520" cy="457200"/>
          </a:xfrm>
          <a:prstGeom prst="rect">
            <a:avLst/>
          </a:prstGeom>
          <a:noFill/>
          <a:ln/>
        </p:spPr>
        <p:txBody>
          <a:bodyPr wrap="square" rtlCol="0" anchor="ctr"/>
          <a:lstStyle/>
          <a:p>
            <a:pPr marL="0" indent="0">
              <a:buNone/>
            </a:pPr>
            <a:r>
              <a:rPr lang="en-US" sz="1400" b="1" dirty="0">
                <a:solidFill>
                  <a:srgbClr val="F59E0B"/>
                </a:solidFill>
                <a:latin typeface="Times New Roman" panose="02020603050405020304" pitchFamily="18" charset="0"/>
                <a:ea typeface="+mj-ea"/>
                <a:cs typeface="Times New Roman" panose="02020603050405020304" pitchFamily="18" charset="0"/>
              </a:rPr>
              <a:t>03</a:t>
            </a:r>
            <a:endParaRPr lang="en-US" sz="1400" dirty="0">
              <a:latin typeface="Times New Roman" panose="02020603050405020304" pitchFamily="18" charset="0"/>
              <a:ea typeface="+mj-ea"/>
              <a:cs typeface="Times New Roman" panose="02020603050405020304" pitchFamily="18" charset="0"/>
            </a:endParaRPr>
          </a:p>
        </p:txBody>
      </p:sp>
      <p:sp>
        <p:nvSpPr>
          <p:cNvPr id="3" name="Text 1"/>
          <p:cNvSpPr/>
          <p:nvPr/>
        </p:nvSpPr>
        <p:spPr>
          <a:xfrm>
            <a:off x="548640" y="636757"/>
            <a:ext cx="10972800" cy="640080"/>
          </a:xfrm>
          <a:prstGeom prst="rect">
            <a:avLst/>
          </a:prstGeom>
          <a:noFill/>
          <a:ln/>
        </p:spPr>
        <p:txBody>
          <a:bodyPr wrap="square" lIns="0" tIns="0" rIns="0" bIns="0" rtlCol="0" anchor="ctr"/>
          <a:lstStyle/>
          <a:p>
            <a:pPr marL="0" indent="0">
              <a:buNone/>
            </a:pPr>
            <a:r>
              <a:rPr lang="en-US" sz="3000" b="1" dirty="0">
                <a:solidFill>
                  <a:srgbClr val="065A82"/>
                </a:solidFill>
                <a:latin typeface="Times New Roman" panose="02020603050405020304" pitchFamily="18" charset="0"/>
                <a:ea typeface="+mj-ea"/>
                <a:cs typeface="Times New Roman" panose="02020603050405020304" pitchFamily="18" charset="0"/>
              </a:rPr>
              <a:t>Continuation</a:t>
            </a:r>
            <a:endParaRPr lang="en-US" sz="3000" dirty="0">
              <a:latin typeface="Times New Roman" panose="02020603050405020304" pitchFamily="18" charset="0"/>
              <a:ea typeface="+mj-ea"/>
              <a:cs typeface="Times New Roman" panose="02020603050405020304" pitchFamily="18" charset="0"/>
            </a:endParaRPr>
          </a:p>
        </p:txBody>
      </p:sp>
      <p:sp>
        <p:nvSpPr>
          <p:cNvPr id="4" name="Text 2"/>
          <p:cNvSpPr/>
          <p:nvPr/>
        </p:nvSpPr>
        <p:spPr>
          <a:xfrm>
            <a:off x="441961" y="1172292"/>
            <a:ext cx="5486400" cy="365760"/>
          </a:xfrm>
          <a:prstGeom prst="rect">
            <a:avLst/>
          </a:prstGeom>
          <a:noFill/>
          <a:ln/>
        </p:spPr>
        <p:txBody>
          <a:bodyPr wrap="square" rtlCol="0" anchor="ctr"/>
          <a:lstStyle/>
          <a:p>
            <a:pPr latinLnBrk="1">
              <a:spcAft>
                <a:spcPts val="800"/>
              </a:spcAft>
            </a:pPr>
            <a:r>
              <a:rPr lang="en-US" altLang="ko-KR" sz="18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Completed Components</a:t>
            </a:r>
            <a:endParaRPr lang="ko-KR" altLang="ko-KR" sz="18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9" name="Text 7"/>
          <p:cNvSpPr/>
          <p:nvPr/>
        </p:nvSpPr>
        <p:spPr>
          <a:xfrm>
            <a:off x="6248400" y="4888465"/>
            <a:ext cx="5394960" cy="1371600"/>
          </a:xfrm>
          <a:prstGeom prst="rect">
            <a:avLst/>
          </a:prstGeom>
          <a:noFill/>
          <a:ln/>
        </p:spPr>
        <p:txBody>
          <a:bodyPr wrap="square" rtlCol="0" anchor="ctr"/>
          <a:lstStyle/>
          <a:p>
            <a:pPr marL="0" indent="0" algn="ctr">
              <a:buNone/>
            </a:pPr>
            <a:r>
              <a:rPr lang="en-US" sz="1300" i="1" dirty="0">
                <a:solidFill>
                  <a:srgbClr val="64748B"/>
                </a:solidFill>
                <a:latin typeface="Times New Roman" panose="02020603050405020304" pitchFamily="18" charset="0"/>
                <a:ea typeface="Malgun Gothic Semilight" panose="020B0502040204020203" pitchFamily="34" charset="-128"/>
                <a:cs typeface="Times New Roman" panose="02020603050405020304" pitchFamily="18" charset="0"/>
              </a:rPr>
              <a:t>,</a:t>
            </a:r>
            <a:endParaRPr lang="en-US" sz="1300" dirty="0">
              <a:latin typeface="Times New Roman" panose="02020603050405020304" pitchFamily="18" charset="0"/>
              <a:ea typeface="Malgun Gothic Semilight" panose="020B0502040204020203" pitchFamily="34" charset="-128"/>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D70C96C2-AB08-D714-E2ED-CDBF1DC3BEB7}"/>
              </a:ext>
            </a:extLst>
          </p:cNvPr>
          <p:cNvCxnSpPr/>
          <p:nvPr/>
        </p:nvCxnSpPr>
        <p:spPr>
          <a:xfrm>
            <a:off x="11638495" y="2180254"/>
            <a:ext cx="0" cy="2159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B301EEBE-433D-7A5A-82E0-DDA2C0C370B1}"/>
              </a:ext>
            </a:extLst>
          </p:cNvPr>
          <p:cNvCxnSpPr/>
          <p:nvPr/>
        </p:nvCxnSpPr>
        <p:spPr>
          <a:xfrm flipH="1" flipV="1">
            <a:off x="11602085" y="8739505"/>
            <a:ext cx="5397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5" name="Table 4">
            <a:extLst>
              <a:ext uri="{FF2B5EF4-FFF2-40B4-BE49-F238E27FC236}">
                <a16:creationId xmlns:a16="http://schemas.microsoft.com/office/drawing/2014/main" id="{E063E4BD-9DD9-B175-3B58-0454EFEF96C6}"/>
              </a:ext>
            </a:extLst>
          </p:cNvPr>
          <p:cNvGraphicFramePr>
            <a:graphicFrameLocks noGrp="1"/>
          </p:cNvGraphicFramePr>
          <p:nvPr>
            <p:extLst>
              <p:ext uri="{D42A27DB-BD31-4B8C-83A1-F6EECF244321}">
                <p14:modId xmlns:p14="http://schemas.microsoft.com/office/powerpoint/2010/main" val="1558167939"/>
              </p:ext>
            </p:extLst>
          </p:nvPr>
        </p:nvGraphicFramePr>
        <p:xfrm>
          <a:off x="528226" y="1624318"/>
          <a:ext cx="11604983" cy="5121542"/>
        </p:xfrm>
        <a:graphic>
          <a:graphicData uri="http://schemas.openxmlformats.org/drawingml/2006/table">
            <a:tbl>
              <a:tblPr firstRow="1" firstCol="1" bandRow="1">
                <a:tableStyleId>{5C22544A-7EE6-4342-B048-85BDC9FD1C3A}</a:tableStyleId>
              </a:tblPr>
              <a:tblGrid>
                <a:gridCol w="3868328">
                  <a:extLst>
                    <a:ext uri="{9D8B030D-6E8A-4147-A177-3AD203B41FA5}">
                      <a16:colId xmlns:a16="http://schemas.microsoft.com/office/drawing/2014/main" val="710784956"/>
                    </a:ext>
                  </a:extLst>
                </a:gridCol>
                <a:gridCol w="3578656">
                  <a:extLst>
                    <a:ext uri="{9D8B030D-6E8A-4147-A177-3AD203B41FA5}">
                      <a16:colId xmlns:a16="http://schemas.microsoft.com/office/drawing/2014/main" val="3199758111"/>
                    </a:ext>
                  </a:extLst>
                </a:gridCol>
                <a:gridCol w="4157999">
                  <a:extLst>
                    <a:ext uri="{9D8B030D-6E8A-4147-A177-3AD203B41FA5}">
                      <a16:colId xmlns:a16="http://schemas.microsoft.com/office/drawing/2014/main" val="1446750150"/>
                    </a:ext>
                  </a:extLst>
                </a:gridCol>
              </a:tblGrid>
              <a:tr h="526907">
                <a:tc>
                  <a:txBody>
                    <a:bodyPr/>
                    <a:lstStyle/>
                    <a:p>
                      <a:pPr latinLnBrk="1">
                        <a:spcAft>
                          <a:spcPts val="800"/>
                        </a:spcAft>
                      </a:pPr>
                      <a:r>
                        <a:rPr lang="en-US" sz="1500" b="1" kern="100" dirty="0">
                          <a:effectLst/>
                          <a:latin typeface="Times New Roman" panose="02020603050405020304" pitchFamily="18" charset="0"/>
                          <a:ea typeface="맑은 고딕" panose="020B0503020000020004" pitchFamily="50" charset="-127"/>
                          <a:cs typeface="Times New Roman" panose="02020603050405020304" pitchFamily="18" charset="0"/>
                        </a:rPr>
                        <a:t>Architecture Component</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b="1" kern="100" dirty="0">
                          <a:effectLst/>
                          <a:latin typeface="Times New Roman" panose="02020603050405020304" pitchFamily="18" charset="0"/>
                          <a:ea typeface="맑은 고딕" panose="020B0503020000020004" pitchFamily="50" charset="-127"/>
                          <a:cs typeface="Times New Roman" panose="02020603050405020304" pitchFamily="18" charset="0"/>
                        </a:rPr>
                        <a:t>Status</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b="1" kern="100" dirty="0">
                          <a:effectLst/>
                          <a:latin typeface="Times New Roman" panose="02020603050405020304" pitchFamily="18" charset="0"/>
                          <a:ea typeface="맑은 고딕" panose="020B0503020000020004" pitchFamily="50" charset="-127"/>
                          <a:cs typeface="Times New Roman" panose="02020603050405020304" pitchFamily="18" charset="0"/>
                        </a:rPr>
                        <a:t>Exact Models / Technologies Used</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189129972"/>
                  </a:ext>
                </a:extLst>
              </a:tr>
              <a:tr h="526907">
                <a:tc>
                  <a:txBody>
                    <a:bodyPr/>
                    <a:lstStyle/>
                    <a:p>
                      <a:pPr latinLnBrk="1">
                        <a:spcAft>
                          <a:spcPts val="800"/>
                        </a:spcAft>
                      </a:pPr>
                      <a:r>
                        <a:rPr lang="en-US" sz="1500" kern="100" dirty="0">
                          <a:effectLst/>
                          <a:latin typeface="Times New Roman" panose="02020603050405020304" pitchFamily="18" charset="0"/>
                          <a:ea typeface="맑은 고딕" panose="020B0503020000020004" pitchFamily="50" charset="-127"/>
                          <a:cs typeface="Times New Roman" panose="02020603050405020304" pitchFamily="18" charset="0"/>
                        </a:rPr>
                        <a:t>Text-to-Speech (TTS)</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ea typeface="맑은 고딕" panose="020B0503020000020004" pitchFamily="50" charset="-127"/>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b="0" kern="100" dirty="0">
                          <a:effectLst/>
                          <a:latin typeface="Times New Roman" panose="02020603050405020304" pitchFamily="18" charset="0"/>
                          <a:ea typeface="맑은 고딕" panose="020B0503020000020004" pitchFamily="50" charset="-127"/>
                          <a:cs typeface="Times New Roman" panose="02020603050405020304" pitchFamily="18" charset="0"/>
                        </a:rPr>
                        <a:t>pyttsx3 using the Windows SAPI5 speech engine</a:t>
                      </a:r>
                      <a:endParaRPr lang="ko-KR" sz="1500" b="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087767194"/>
                  </a:ext>
                </a:extLst>
              </a:tr>
              <a:tr h="392020">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Emotion Detection</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Rule-based emotion inference engine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266393162"/>
                  </a:ext>
                </a:extLst>
              </a:tr>
              <a:tr h="392020">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Intent Detection</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Rule-based intent classifier</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809987838"/>
                  </a:ext>
                </a:extLst>
              </a:tr>
              <a:tr h="392020">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Stress-Type Classification</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Rule-based stress inference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296235439"/>
                  </a:ext>
                </a:extLst>
              </a:tr>
              <a:tr h="526907">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Crisis Detection</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Rule-based bilingual crisis detection with dedicated safety response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537430340"/>
                  </a:ext>
                </a:extLst>
              </a:tr>
              <a:tr h="392020">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Backend API</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Complete</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FastAPI</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965562918"/>
                  </a:ext>
                </a:extLst>
              </a:tr>
              <a:tr h="392020">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Database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SQLite (SQLAlchemy ORM)</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4175072388"/>
                  </a:ext>
                </a:extLst>
              </a:tr>
              <a:tr h="526907">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Conversation Logging</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Persistent conversation history and session logging</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4168752846"/>
                  </a:ext>
                </a:extLst>
              </a:tr>
              <a:tr h="526907">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Multi-session Trend Tracking</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Complete</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a:effectLst/>
                          <a:latin typeface="Times New Roman" panose="02020603050405020304" pitchFamily="18" charset="0"/>
                          <a:cs typeface="Times New Roman" panose="02020603050405020304" pitchFamily="18" charset="0"/>
                        </a:rPr>
                        <a:t>Emotion trend analysis across previous counseling sessions</a:t>
                      </a:r>
                      <a:endParaRPr lang="ko-KR" sz="1500" kern="10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1193362379"/>
                  </a:ext>
                </a:extLst>
              </a:tr>
              <a:tr h="526907">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Digital Human Avatar</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Pending</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tc>
                  <a:txBody>
                    <a:bodyPr/>
                    <a:lstStyle/>
                    <a:p>
                      <a:pPr latinLnBrk="1">
                        <a:spcAft>
                          <a:spcPts val="800"/>
                        </a:spcAft>
                      </a:pPr>
                      <a:r>
                        <a:rPr lang="en-US" sz="1500" kern="100" dirty="0">
                          <a:effectLst/>
                          <a:latin typeface="Times New Roman" panose="02020603050405020304" pitchFamily="18" charset="0"/>
                          <a:cs typeface="Times New Roman" panose="02020603050405020304" pitchFamily="18" charset="0"/>
                        </a:rPr>
                        <a:t>Avatar rendering, facial expressions, lip synchronization, gesture animation</a:t>
                      </a:r>
                      <a:endParaRPr 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9525" anchor="ctr"/>
                </a:tc>
                <a:extLst>
                  <a:ext uri="{0D108BD9-81ED-4DB2-BD59-A6C34878D82A}">
                    <a16:rowId xmlns:a16="http://schemas.microsoft.com/office/drawing/2014/main" val="4137936557"/>
                  </a:ext>
                </a:extLst>
              </a:tr>
            </a:tbl>
          </a:graphicData>
        </a:graphic>
      </p:graphicFrame>
    </p:spTree>
    <p:extLst>
      <p:ext uri="{BB962C8B-B14F-4D97-AF65-F5344CB8AC3E}">
        <p14:creationId xmlns:p14="http://schemas.microsoft.com/office/powerpoint/2010/main" val="2718596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731520" cy="457200"/>
          </a:xfrm>
          <a:prstGeom prst="rect">
            <a:avLst/>
          </a:prstGeom>
          <a:noFill/>
          <a:ln/>
        </p:spPr>
        <p:txBody>
          <a:bodyPr wrap="square" rtlCol="0" anchor="ctr"/>
          <a:lstStyle/>
          <a:p>
            <a:pPr marL="0" indent="0">
              <a:buNone/>
            </a:pPr>
            <a:r>
              <a:rPr lang="en-US" sz="1400" b="1" dirty="0">
                <a:solidFill>
                  <a:srgbClr val="F59E0B"/>
                </a:solidFill>
                <a:latin typeface="Times New Roman" panose="02020603050405020304" pitchFamily="18" charset="0"/>
                <a:ea typeface="Consolas" pitchFamily="34" charset="-122"/>
                <a:cs typeface="Times New Roman" panose="02020603050405020304" pitchFamily="18" charset="0"/>
              </a:rPr>
              <a:t>04</a:t>
            </a:r>
            <a:endParaRPr lang="en-US" sz="1400" dirty="0">
              <a:latin typeface="Times New Roman" panose="02020603050405020304" pitchFamily="18" charset="0"/>
              <a:cs typeface="Times New Roman" panose="02020603050405020304" pitchFamily="18" charset="0"/>
            </a:endParaRPr>
          </a:p>
        </p:txBody>
      </p:sp>
      <p:sp>
        <p:nvSpPr>
          <p:cNvPr id="3" name="Text 1"/>
          <p:cNvSpPr/>
          <p:nvPr/>
        </p:nvSpPr>
        <p:spPr>
          <a:xfrm>
            <a:off x="548640" y="619428"/>
            <a:ext cx="10972800" cy="640080"/>
          </a:xfrm>
          <a:prstGeom prst="rect">
            <a:avLst/>
          </a:prstGeom>
          <a:noFill/>
          <a:ln/>
        </p:spPr>
        <p:txBody>
          <a:bodyPr wrap="square" lIns="0" tIns="0" rIns="0" bIns="0" rtlCol="0" anchor="ctr"/>
          <a:lstStyle/>
          <a:p>
            <a:pPr latinLnBrk="1">
              <a:spcAft>
                <a:spcPts val="800"/>
              </a:spcAft>
            </a:pPr>
            <a:r>
              <a:rPr lang="en-US" altLang="ko-KR" sz="3500" b="1" dirty="0">
                <a:solidFill>
                  <a:srgbClr val="065A82"/>
                </a:solidFill>
                <a:effectLst/>
                <a:latin typeface="Times New Roman" panose="02020603050405020304" pitchFamily="18" charset="0"/>
                <a:cs typeface="Times New Roman" panose="02020603050405020304" pitchFamily="18" charset="0"/>
              </a:rPr>
              <a:t>Overall System Workflow</a:t>
            </a:r>
            <a:endParaRPr lang="ko-KR" altLang="ko-KR" sz="35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5" name="Shape 3"/>
          <p:cNvSpPr/>
          <p:nvPr/>
        </p:nvSpPr>
        <p:spPr>
          <a:xfrm>
            <a:off x="548640" y="1242704"/>
            <a:ext cx="11399520" cy="4955624"/>
          </a:xfrm>
          <a:prstGeom prst="rect">
            <a:avLst/>
          </a:prstGeom>
          <a:solidFill>
            <a:srgbClr val="F0F4F8"/>
          </a:solidFill>
          <a:ln w="6350">
            <a:solidFill>
              <a:srgbClr val="CBD5E1"/>
            </a:solidFill>
            <a:prstDash val="solid"/>
          </a:ln>
        </p:spPr>
        <p:txBody>
          <a:bodyPr/>
          <a:lstStyle/>
          <a:p>
            <a:endParaRPr lang="en-US" dirty="0">
              <a:latin typeface="Times New Roman" panose="02020603050405020304" pitchFamily="18" charset="0"/>
              <a:ea typeface="Malgun Gothic Semilight" panose="020B0502040204020203" pitchFamily="34" charset="-128"/>
              <a:cs typeface="Times New Roman" panose="02020603050405020304" pitchFamily="18" charset="0"/>
            </a:endParaRPr>
          </a:p>
        </p:txBody>
      </p:sp>
      <p:sp>
        <p:nvSpPr>
          <p:cNvPr id="6" name="Text 4"/>
          <p:cNvSpPr/>
          <p:nvPr/>
        </p:nvSpPr>
        <p:spPr>
          <a:xfrm>
            <a:off x="670560" y="2201480"/>
            <a:ext cx="10178143" cy="2455040"/>
          </a:xfrm>
          <a:prstGeom prst="rect">
            <a:avLst/>
          </a:prstGeom>
          <a:noFill/>
          <a:ln/>
        </p:spPr>
        <p:txBody>
          <a:bodyPr wrap="square" rtlCol="0" anchor="t"/>
          <a:lstStyle/>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4" name="Shape 6">
            <a:extLst>
              <a:ext uri="{FF2B5EF4-FFF2-40B4-BE49-F238E27FC236}">
                <a16:creationId xmlns:a16="http://schemas.microsoft.com/office/drawing/2014/main" id="{E1519D06-27A2-3923-0EA3-189522EA0AAD}"/>
              </a:ext>
            </a:extLst>
          </p:cNvPr>
          <p:cNvSpPr/>
          <p:nvPr/>
        </p:nvSpPr>
        <p:spPr>
          <a:xfrm>
            <a:off x="670560" y="1348311"/>
            <a:ext cx="5926347" cy="3859434"/>
          </a:xfrm>
          <a:prstGeom prst="rect">
            <a:avLst/>
          </a:prstGeom>
          <a:solidFill>
            <a:srgbClr val="FFFFFF"/>
          </a:solidFill>
          <a:ln w="19050">
            <a:solidFill>
              <a:srgbClr val="1C7293"/>
            </a:solidFill>
            <a:prstDash val="dash"/>
          </a:ln>
        </p:spPr>
        <p:txBody>
          <a:bodyPr/>
          <a:lstStyle/>
          <a:p>
            <a:endParaRPr lang="en-US" dirty="0">
              <a:latin typeface="Times New Roman" panose="02020603050405020304" pitchFamily="18" charset="0"/>
              <a:cs typeface="Times New Roman" panose="02020603050405020304" pitchFamily="18" charset="0"/>
            </a:endParaRPr>
          </a:p>
        </p:txBody>
      </p:sp>
      <p:sp>
        <p:nvSpPr>
          <p:cNvPr id="12" name="Shape 6">
            <a:extLst>
              <a:ext uri="{FF2B5EF4-FFF2-40B4-BE49-F238E27FC236}">
                <a16:creationId xmlns:a16="http://schemas.microsoft.com/office/drawing/2014/main" id="{FDE26DBD-CDB5-90A6-EADC-0735800C439E}"/>
              </a:ext>
            </a:extLst>
          </p:cNvPr>
          <p:cNvSpPr/>
          <p:nvPr/>
        </p:nvSpPr>
        <p:spPr>
          <a:xfrm>
            <a:off x="6718827" y="1348311"/>
            <a:ext cx="5116615" cy="4250233"/>
          </a:xfrm>
          <a:prstGeom prst="rect">
            <a:avLst/>
          </a:prstGeom>
          <a:solidFill>
            <a:srgbClr val="FFFFFF"/>
          </a:solidFill>
          <a:ln w="19050">
            <a:solidFill>
              <a:srgbClr val="1C7293"/>
            </a:solidFill>
            <a:prstDash val="dash"/>
          </a:ln>
        </p:spPr>
        <p:txBody>
          <a:bodyPr/>
          <a:lstStyle/>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Retrieved knowledge is combined with: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Conversation history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Persona prompt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Emotion state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Trend information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Meta Llama 3.2 3B Instruct (</a:t>
            </a:r>
            <a:r>
              <a:rPr lang="en-US" altLang="ko-KR" sz="1500" kern="100" dirty="0" err="1">
                <a:effectLst/>
                <a:latin typeface="Times New Roman" panose="02020603050405020304" pitchFamily="18" charset="0"/>
                <a:ea typeface="맑은 고딕" panose="020B0503020000020004" pitchFamily="50" charset="-127"/>
                <a:cs typeface="Times New Roman" panose="02020603050405020304" pitchFamily="18" charset="0"/>
              </a:rPr>
              <a:t>LoRA</a:t>
            </a: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 Fine-tuned) generates the counseling response.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Response is converted into speech using pyttsx3 (Windows SAPI5).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Conversation history and emotional state are stored in the SQLite database.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Emotion trends are updated across user sessions.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Current interface visualizes emotional state using an animated orb.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14" name="TextBox 13">
            <a:extLst>
              <a:ext uri="{FF2B5EF4-FFF2-40B4-BE49-F238E27FC236}">
                <a16:creationId xmlns:a16="http://schemas.microsoft.com/office/drawing/2014/main" id="{DE5BA3BC-A091-5966-4750-F94FE493A2C6}"/>
              </a:ext>
            </a:extLst>
          </p:cNvPr>
          <p:cNvSpPr txBox="1"/>
          <p:nvPr/>
        </p:nvSpPr>
        <p:spPr>
          <a:xfrm>
            <a:off x="624265" y="1486019"/>
            <a:ext cx="6094562" cy="3221395"/>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User enters text or voice input.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Voice input is transcribed using faster-whisper (Whisper Base).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User message is analyzed for: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Intent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Emotion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Stress type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742950" lvl="1" indent="-285750" latinLnBrk="1">
              <a:spcAft>
                <a:spcPts val="800"/>
              </a:spcAft>
              <a:buSzPts val="1000"/>
              <a:buFont typeface="Courier New" panose="02070309020205020404" pitchFamily="49" charset="0"/>
              <a:buChar char="o"/>
              <a:tabLst>
                <a:tab pos="9144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Crisis risk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Query is embedded using nomic-embed-text.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500" kern="100" dirty="0" err="1">
                <a:effectLst/>
                <a:latin typeface="Times New Roman" panose="02020603050405020304" pitchFamily="18" charset="0"/>
                <a:ea typeface="맑은 고딕" panose="020B0503020000020004" pitchFamily="50" charset="-127"/>
                <a:cs typeface="Times New Roman" panose="02020603050405020304" pitchFamily="18" charset="0"/>
              </a:rPr>
              <a:t>ChromaDB</a:t>
            </a:r>
            <a:r>
              <a:rPr lang="en-US"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rPr>
              <a:t> retrieves the most relevant counseling knowledge (Top-3 semantic search). </a:t>
            </a:r>
            <a:endParaRPr lang="ko-KR" altLang="ko-KR" sz="15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16" name="TextBox 15">
            <a:extLst>
              <a:ext uri="{FF2B5EF4-FFF2-40B4-BE49-F238E27FC236}">
                <a16:creationId xmlns:a16="http://schemas.microsoft.com/office/drawing/2014/main" id="{B87BE587-020E-71E2-CFF9-C5F4E85197A5}"/>
              </a:ext>
            </a:extLst>
          </p:cNvPr>
          <p:cNvSpPr txBox="1"/>
          <p:nvPr/>
        </p:nvSpPr>
        <p:spPr>
          <a:xfrm>
            <a:off x="1063206" y="5600040"/>
            <a:ext cx="10668719" cy="646331"/>
          </a:xfrm>
          <a:prstGeom prst="rect">
            <a:avLst/>
          </a:prstGeom>
          <a:noFill/>
        </p:spPr>
        <p:txBody>
          <a:bodyPr wrap="square">
            <a:spAutoFit/>
          </a:bodyPr>
          <a:lstStyle/>
          <a:p>
            <a:pPr latinLnBrk="1">
              <a:spcAft>
                <a:spcPts val="800"/>
              </a:spcAf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User Input → Speech Processing → User Inference → RAG Knowledge Retrieval → Fine-tuned Llama 3.2 → Response Generation → Voice/Chat Output → Digital Human Avatar</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17" name="Shape 6">
            <a:extLst>
              <a:ext uri="{FF2B5EF4-FFF2-40B4-BE49-F238E27FC236}">
                <a16:creationId xmlns:a16="http://schemas.microsoft.com/office/drawing/2014/main" id="{219F8B52-5E6A-5CE8-0CF8-BC3BBA00DA10}"/>
              </a:ext>
            </a:extLst>
          </p:cNvPr>
          <p:cNvSpPr/>
          <p:nvPr/>
        </p:nvSpPr>
        <p:spPr>
          <a:xfrm>
            <a:off x="679762" y="5280106"/>
            <a:ext cx="5926347" cy="348582"/>
          </a:xfrm>
          <a:prstGeom prst="rect">
            <a:avLst/>
          </a:prstGeom>
          <a:solidFill>
            <a:srgbClr val="FFFFFF"/>
          </a:solidFill>
          <a:ln w="19050">
            <a:solidFill>
              <a:srgbClr val="1C7293"/>
            </a:solidFill>
            <a:prstDash val="dash"/>
          </a:ln>
        </p:spPr>
        <p:txBody>
          <a:bodyPr/>
          <a:lstStyle/>
          <a:p>
            <a:endParaRPr lang="en-US"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D92BC389-4649-D771-7184-BB71A80471CC}"/>
              </a:ext>
            </a:extLst>
          </p:cNvPr>
          <p:cNvSpPr txBox="1"/>
          <p:nvPr/>
        </p:nvSpPr>
        <p:spPr>
          <a:xfrm>
            <a:off x="998508" y="5280106"/>
            <a:ext cx="2081122" cy="369332"/>
          </a:xfrm>
          <a:prstGeom prst="rect">
            <a:avLst/>
          </a:prstGeom>
          <a:noFill/>
        </p:spPr>
        <p:txBody>
          <a:bodyPr wrap="square">
            <a:spAutoFit/>
          </a:bodyPr>
          <a:lstStyle/>
          <a:p>
            <a:pPr latinLnBrk="1">
              <a:spcAft>
                <a:spcPts val="800"/>
              </a:spcAft>
            </a:pPr>
            <a:r>
              <a:rPr lang="en-US" altLang="ko-KR" sz="18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System </a:t>
            </a:r>
            <a:r>
              <a:rPr lang="en-US" altLang="ko-KR" b="1" kern="100" dirty="0">
                <a:solidFill>
                  <a:srgbClr val="065A82"/>
                </a:solidFill>
                <a:latin typeface="Times New Roman" panose="02020603050405020304" pitchFamily="18" charset="0"/>
                <a:ea typeface="맑은 고딕" panose="020B0503020000020004" pitchFamily="50" charset="-127"/>
                <a:cs typeface="Times New Roman" panose="02020603050405020304" pitchFamily="18" charset="0"/>
              </a:rPr>
              <a:t>P</a:t>
            </a:r>
            <a:r>
              <a:rPr lang="en-US" altLang="ko-KR" sz="18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ipeline</a:t>
            </a:r>
            <a:endParaRPr lang="ko-KR" altLang="ko-KR" sz="18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4140039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3935"/>
            <a:ext cx="731520" cy="457200"/>
          </a:xfrm>
          <a:prstGeom prst="rect">
            <a:avLst/>
          </a:prstGeom>
          <a:noFill/>
          <a:ln/>
        </p:spPr>
        <p:txBody>
          <a:bodyPr wrap="square" rtlCol="0" anchor="ctr"/>
          <a:lstStyle/>
          <a:p>
            <a:pPr marL="0" indent="0">
              <a:buNone/>
            </a:pPr>
            <a:r>
              <a:rPr lang="en-US" sz="1400" b="1" dirty="0">
                <a:solidFill>
                  <a:srgbClr val="F59E0B"/>
                </a:solidFill>
                <a:latin typeface="Consolas" pitchFamily="34" charset="0"/>
                <a:ea typeface="Consolas" pitchFamily="34" charset="-122"/>
                <a:cs typeface="Consolas" pitchFamily="34" charset="-120"/>
              </a:rPr>
              <a:t>05</a:t>
            </a:r>
            <a:endParaRPr lang="en-US" sz="1400" dirty="0"/>
          </a:p>
        </p:txBody>
      </p:sp>
      <p:sp>
        <p:nvSpPr>
          <p:cNvPr id="3" name="Text 1"/>
          <p:cNvSpPr/>
          <p:nvPr/>
        </p:nvSpPr>
        <p:spPr>
          <a:xfrm>
            <a:off x="747047" y="263640"/>
            <a:ext cx="10972800" cy="640080"/>
          </a:xfrm>
          <a:prstGeom prst="rect">
            <a:avLst/>
          </a:prstGeom>
          <a:noFill/>
          <a:ln/>
        </p:spPr>
        <p:txBody>
          <a:bodyPr wrap="square" lIns="0" tIns="0" rIns="0" bIns="0" rtlCol="0" anchor="ctr"/>
          <a:lstStyle/>
          <a:p>
            <a:pPr latinLnBrk="1">
              <a:spcAft>
                <a:spcPts val="800"/>
              </a:spcAft>
            </a:pPr>
            <a:r>
              <a:rPr lang="en-US" altLang="ko-KR" sz="3500" b="1" dirty="0">
                <a:solidFill>
                  <a:srgbClr val="065A82"/>
                </a:solidFill>
                <a:effectLst/>
                <a:latin typeface="Times New Roman" panose="02020603050405020304" pitchFamily="18" charset="0"/>
                <a:cs typeface="Times New Roman" panose="02020603050405020304" pitchFamily="18" charset="0"/>
              </a:rPr>
              <a:t>System Architecture</a:t>
            </a:r>
            <a:endParaRPr lang="ko-KR" altLang="ko-KR" sz="35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5" name="Shape 3"/>
          <p:cNvSpPr/>
          <p:nvPr/>
        </p:nvSpPr>
        <p:spPr>
          <a:xfrm>
            <a:off x="548640" y="1190935"/>
            <a:ext cx="11399520" cy="5007393"/>
          </a:xfrm>
          <a:prstGeom prst="rect">
            <a:avLst/>
          </a:prstGeom>
          <a:solidFill>
            <a:srgbClr val="F0F4F8"/>
          </a:solidFill>
          <a:ln w="6350">
            <a:solidFill>
              <a:srgbClr val="CBD5E1"/>
            </a:solidFill>
            <a:prstDash val="solid"/>
          </a:ln>
        </p:spPr>
        <p:txBody>
          <a:bodyPr/>
          <a:lstStyle/>
          <a:p>
            <a:endParaRPr lang="en-US" dirty="0">
              <a:latin typeface="Malgun Gothic Semilight" panose="020B0502040204020203" pitchFamily="34" charset="-128"/>
              <a:ea typeface="Malgun Gothic Semilight" panose="020B0502040204020203" pitchFamily="34" charset="-128"/>
              <a:cs typeface="Malgun Gothic Semilight" panose="020B0502040204020203" pitchFamily="34" charset="-128"/>
            </a:endParaRPr>
          </a:p>
        </p:txBody>
      </p:sp>
      <p:sp>
        <p:nvSpPr>
          <p:cNvPr id="6" name="Text 4"/>
          <p:cNvSpPr/>
          <p:nvPr/>
        </p:nvSpPr>
        <p:spPr>
          <a:xfrm>
            <a:off x="670560" y="2201480"/>
            <a:ext cx="10178143" cy="2455040"/>
          </a:xfrm>
          <a:prstGeom prst="rect">
            <a:avLst/>
          </a:prstGeom>
          <a:noFill/>
          <a:ln/>
        </p:spPr>
        <p:txBody>
          <a:bodyPr wrap="square" rtlCol="0" anchor="t"/>
          <a:lstStyle/>
          <a:p>
            <a:pPr marL="285750" indent="-285750">
              <a:buFont typeface="Wingdings" panose="05000000000000000000" pitchFamily="2" charset="2"/>
              <a:buChar char="Ø"/>
            </a:pPr>
            <a:endParaRPr lang="en-US" sz="1600" dirty="0"/>
          </a:p>
        </p:txBody>
      </p:sp>
      <p:sp>
        <p:nvSpPr>
          <p:cNvPr id="9" name="Shape 6">
            <a:extLst>
              <a:ext uri="{FF2B5EF4-FFF2-40B4-BE49-F238E27FC236}">
                <a16:creationId xmlns:a16="http://schemas.microsoft.com/office/drawing/2014/main" id="{A399B317-D497-B250-0807-31377B512723}"/>
              </a:ext>
            </a:extLst>
          </p:cNvPr>
          <p:cNvSpPr/>
          <p:nvPr/>
        </p:nvSpPr>
        <p:spPr>
          <a:xfrm>
            <a:off x="854015" y="1215340"/>
            <a:ext cx="10758865" cy="5007393"/>
          </a:xfrm>
          <a:prstGeom prst="rect">
            <a:avLst/>
          </a:prstGeom>
          <a:solidFill>
            <a:srgbClr val="FFFFFF"/>
          </a:solidFill>
          <a:ln w="19050">
            <a:solidFill>
              <a:srgbClr val="1C7293"/>
            </a:solidFill>
            <a:prstDash val="dash"/>
          </a:ln>
        </p:spPr>
        <p:txBody>
          <a:bodyPr/>
          <a:lstStyle/>
          <a:p>
            <a:endParaRPr lang="en-US"/>
          </a:p>
        </p:txBody>
      </p:sp>
      <p:pic>
        <p:nvPicPr>
          <p:cNvPr id="12" name="Picture 11">
            <a:extLst>
              <a:ext uri="{FF2B5EF4-FFF2-40B4-BE49-F238E27FC236}">
                <a16:creationId xmlns:a16="http://schemas.microsoft.com/office/drawing/2014/main" id="{A2966412-1AD8-6AC6-1322-BE34CC7ECD8C}"/>
              </a:ext>
            </a:extLst>
          </p:cNvPr>
          <p:cNvPicPr>
            <a:picLocks noChangeAspect="1"/>
          </p:cNvPicPr>
          <p:nvPr/>
        </p:nvPicPr>
        <p:blipFill>
          <a:blip r:embed="rId3"/>
          <a:srcRect t="4277" b="12453"/>
          <a:stretch/>
        </p:blipFill>
        <p:spPr>
          <a:xfrm>
            <a:off x="1619639" y="1271412"/>
            <a:ext cx="8818321" cy="4843603"/>
          </a:xfrm>
          <a:prstGeom prst="rect">
            <a:avLst/>
          </a:prstGeom>
        </p:spPr>
      </p:pic>
      <p:sp>
        <p:nvSpPr>
          <p:cNvPr id="14" name="TextBox 13">
            <a:extLst>
              <a:ext uri="{FF2B5EF4-FFF2-40B4-BE49-F238E27FC236}">
                <a16:creationId xmlns:a16="http://schemas.microsoft.com/office/drawing/2014/main" id="{9C4AED5C-157A-4AC0-ECF1-022D4019020D}"/>
              </a:ext>
            </a:extLst>
          </p:cNvPr>
          <p:cNvSpPr txBox="1"/>
          <p:nvPr/>
        </p:nvSpPr>
        <p:spPr>
          <a:xfrm>
            <a:off x="2020738" y="843616"/>
            <a:ext cx="8667390" cy="369332"/>
          </a:xfrm>
          <a:prstGeom prst="rect">
            <a:avLst/>
          </a:prstGeom>
          <a:noFill/>
        </p:spPr>
        <p:txBody>
          <a:bodyPr wrap="square">
            <a:spAutoFit/>
          </a:bodyPr>
          <a:lstStyle/>
          <a:p>
            <a:pPr latinLnBrk="1">
              <a:spcAft>
                <a:spcPts val="800"/>
              </a:spcAft>
            </a:pPr>
            <a:r>
              <a:rPr lang="en-US" altLang="ko-KR" sz="1800" b="1" kern="100" dirty="0">
                <a:effectLst/>
                <a:latin typeface="Times New Roman" panose="02020603050405020304" pitchFamily="18" charset="0"/>
                <a:ea typeface="맑은 고딕" panose="020B0503020000020004" pitchFamily="50" charset="-127"/>
                <a:cs typeface="Times New Roman" panose="02020603050405020304" pitchFamily="18" charset="0"/>
              </a:rPr>
              <a:t>Figure 1. LLM-RAG Based Digital Human Counseling System Architecture</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2326819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74185"/>
            <a:ext cx="731520" cy="457200"/>
          </a:xfrm>
          <a:prstGeom prst="rect">
            <a:avLst/>
          </a:prstGeom>
          <a:noFill/>
          <a:ln/>
        </p:spPr>
        <p:txBody>
          <a:bodyPr wrap="square" rtlCol="0" anchor="ctr"/>
          <a:lstStyle/>
          <a:p>
            <a:pPr marL="0" indent="0">
              <a:buNone/>
            </a:pPr>
            <a:r>
              <a:rPr lang="en-US" sz="1400" b="1" dirty="0">
                <a:solidFill>
                  <a:srgbClr val="F59E0B"/>
                </a:solidFill>
                <a:latin typeface="Consolas" pitchFamily="34" charset="0"/>
                <a:ea typeface="Consolas" pitchFamily="34" charset="-122"/>
                <a:cs typeface="Consolas" pitchFamily="34" charset="-120"/>
              </a:rPr>
              <a:t>06</a:t>
            </a:r>
            <a:endParaRPr lang="en-US" sz="1400" dirty="0"/>
          </a:p>
        </p:txBody>
      </p:sp>
      <p:sp>
        <p:nvSpPr>
          <p:cNvPr id="3" name="Text 1"/>
          <p:cNvSpPr/>
          <p:nvPr/>
        </p:nvSpPr>
        <p:spPr>
          <a:xfrm>
            <a:off x="548640" y="226269"/>
            <a:ext cx="10972800" cy="640080"/>
          </a:xfrm>
          <a:prstGeom prst="rect">
            <a:avLst/>
          </a:prstGeom>
          <a:noFill/>
          <a:ln/>
        </p:spPr>
        <p:txBody>
          <a:bodyPr wrap="square" lIns="0" tIns="0" rIns="0" bIns="0" rtlCol="0" anchor="ctr"/>
          <a:lstStyle/>
          <a:p>
            <a:pPr latinLnBrk="1">
              <a:spcAft>
                <a:spcPts val="800"/>
              </a:spcAft>
            </a:pPr>
            <a:r>
              <a:rPr lang="en-US" altLang="ko-KR" sz="40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User Interface</a:t>
            </a:r>
            <a:endParaRPr lang="ko-KR" altLang="ko-KR" sz="40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5" name="Shape 3"/>
          <p:cNvSpPr/>
          <p:nvPr/>
        </p:nvSpPr>
        <p:spPr>
          <a:xfrm>
            <a:off x="548640" y="866350"/>
            <a:ext cx="11399520" cy="5331978"/>
          </a:xfrm>
          <a:prstGeom prst="rect">
            <a:avLst/>
          </a:prstGeom>
          <a:solidFill>
            <a:srgbClr val="F0F4F8"/>
          </a:solidFill>
          <a:ln w="6350">
            <a:solidFill>
              <a:srgbClr val="CBD5E1"/>
            </a:solidFill>
            <a:prstDash val="solid"/>
          </a:ln>
        </p:spPr>
        <p:txBody>
          <a:bodyPr/>
          <a:lstStyle/>
          <a:p>
            <a:endParaRPr lang="en-US" dirty="0">
              <a:latin typeface="Malgun Gothic Semilight" panose="020B0502040204020203" pitchFamily="34" charset="-128"/>
              <a:ea typeface="Malgun Gothic Semilight" panose="020B0502040204020203" pitchFamily="34" charset="-128"/>
              <a:cs typeface="Malgun Gothic Semilight" panose="020B0502040204020203" pitchFamily="34" charset="-128"/>
            </a:endParaRPr>
          </a:p>
        </p:txBody>
      </p:sp>
      <p:sp>
        <p:nvSpPr>
          <p:cNvPr id="6" name="Text 4"/>
          <p:cNvSpPr/>
          <p:nvPr/>
        </p:nvSpPr>
        <p:spPr>
          <a:xfrm>
            <a:off x="670560" y="2201480"/>
            <a:ext cx="10178143" cy="2455040"/>
          </a:xfrm>
          <a:prstGeom prst="rect">
            <a:avLst/>
          </a:prstGeom>
          <a:noFill/>
          <a:ln/>
        </p:spPr>
        <p:txBody>
          <a:bodyPr wrap="square" rtlCol="0" anchor="t"/>
          <a:lstStyle/>
          <a:p>
            <a:pPr marL="285750" indent="-285750">
              <a:buFont typeface="Wingdings" panose="05000000000000000000" pitchFamily="2" charset="2"/>
              <a:buChar char="Ø"/>
            </a:pPr>
            <a:endParaRPr lang="en-US" sz="1600" dirty="0"/>
          </a:p>
        </p:txBody>
      </p:sp>
      <p:sp>
        <p:nvSpPr>
          <p:cNvPr id="9" name="Shape 6">
            <a:extLst>
              <a:ext uri="{FF2B5EF4-FFF2-40B4-BE49-F238E27FC236}">
                <a16:creationId xmlns:a16="http://schemas.microsoft.com/office/drawing/2014/main" id="{A399B317-D497-B250-0807-31377B512723}"/>
              </a:ext>
            </a:extLst>
          </p:cNvPr>
          <p:cNvSpPr/>
          <p:nvPr/>
        </p:nvSpPr>
        <p:spPr>
          <a:xfrm>
            <a:off x="3812875" y="931653"/>
            <a:ext cx="8040816" cy="5266675"/>
          </a:xfrm>
          <a:prstGeom prst="rect">
            <a:avLst/>
          </a:prstGeom>
          <a:solidFill>
            <a:srgbClr val="FFFFFF"/>
          </a:solidFill>
          <a:ln w="19050">
            <a:solidFill>
              <a:srgbClr val="1C7293"/>
            </a:solidFill>
            <a:prstDash val="dash"/>
          </a:ln>
        </p:spPr>
        <p:txBody>
          <a:bodyPr/>
          <a:lstStyle/>
          <a:p>
            <a:endParaRPr lang="en-US"/>
          </a:p>
        </p:txBody>
      </p:sp>
      <p:pic>
        <p:nvPicPr>
          <p:cNvPr id="16" name="Picture 15">
            <a:extLst>
              <a:ext uri="{FF2B5EF4-FFF2-40B4-BE49-F238E27FC236}">
                <a16:creationId xmlns:a16="http://schemas.microsoft.com/office/drawing/2014/main" id="{08760AEB-83E9-C944-EE09-27F8633AA0C1}"/>
              </a:ext>
            </a:extLst>
          </p:cNvPr>
          <p:cNvPicPr>
            <a:picLocks noChangeAspect="1"/>
          </p:cNvPicPr>
          <p:nvPr/>
        </p:nvPicPr>
        <p:blipFill>
          <a:blip r:embed="rId3"/>
          <a:stretch>
            <a:fillRect/>
          </a:stretch>
        </p:blipFill>
        <p:spPr>
          <a:xfrm>
            <a:off x="683611" y="942383"/>
            <a:ext cx="3034795" cy="5197164"/>
          </a:xfrm>
          <a:prstGeom prst="rect">
            <a:avLst/>
          </a:prstGeom>
        </p:spPr>
      </p:pic>
      <p:pic>
        <p:nvPicPr>
          <p:cNvPr id="18" name="Picture 17">
            <a:extLst>
              <a:ext uri="{FF2B5EF4-FFF2-40B4-BE49-F238E27FC236}">
                <a16:creationId xmlns:a16="http://schemas.microsoft.com/office/drawing/2014/main" id="{65F0E899-E6C6-E2C9-3F67-6D57112FBCF1}"/>
              </a:ext>
            </a:extLst>
          </p:cNvPr>
          <p:cNvPicPr>
            <a:picLocks noChangeAspect="1"/>
          </p:cNvPicPr>
          <p:nvPr/>
        </p:nvPicPr>
        <p:blipFill>
          <a:blip r:embed="rId4"/>
          <a:stretch>
            <a:fillRect/>
          </a:stretch>
        </p:blipFill>
        <p:spPr>
          <a:xfrm>
            <a:off x="3825921" y="946293"/>
            <a:ext cx="8019144" cy="5220148"/>
          </a:xfrm>
          <a:prstGeom prst="rect">
            <a:avLst/>
          </a:prstGeom>
        </p:spPr>
      </p:pic>
    </p:spTree>
    <p:extLst>
      <p:ext uri="{BB962C8B-B14F-4D97-AF65-F5344CB8AC3E}">
        <p14:creationId xmlns:p14="http://schemas.microsoft.com/office/powerpoint/2010/main" val="576992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731520" cy="457200"/>
          </a:xfrm>
          <a:prstGeom prst="rect">
            <a:avLst/>
          </a:prstGeom>
          <a:noFill/>
          <a:ln/>
        </p:spPr>
        <p:txBody>
          <a:bodyPr wrap="square" rtlCol="0" anchor="ctr"/>
          <a:lstStyle/>
          <a:p>
            <a:pPr marL="0" indent="0">
              <a:buNone/>
            </a:pPr>
            <a:r>
              <a:rPr lang="en-US" sz="1400" b="1" dirty="0">
                <a:solidFill>
                  <a:srgbClr val="F59E0B"/>
                </a:solidFill>
                <a:latin typeface="Times New Roman" panose="02020603050405020304" pitchFamily="18" charset="0"/>
                <a:ea typeface="Consolas" pitchFamily="34" charset="-122"/>
                <a:cs typeface="Times New Roman" panose="02020603050405020304" pitchFamily="18" charset="0"/>
              </a:rPr>
              <a:t>07</a:t>
            </a:r>
            <a:endParaRPr lang="en-US" sz="1400" dirty="0">
              <a:latin typeface="Times New Roman" panose="02020603050405020304" pitchFamily="18" charset="0"/>
              <a:cs typeface="Times New Roman" panose="02020603050405020304" pitchFamily="18" charset="0"/>
            </a:endParaRPr>
          </a:p>
        </p:txBody>
      </p:sp>
      <p:sp>
        <p:nvSpPr>
          <p:cNvPr id="3" name="Text 1"/>
          <p:cNvSpPr/>
          <p:nvPr/>
        </p:nvSpPr>
        <p:spPr>
          <a:xfrm>
            <a:off x="548640" y="777240"/>
            <a:ext cx="10972800" cy="640080"/>
          </a:xfrm>
          <a:prstGeom prst="rect">
            <a:avLst/>
          </a:prstGeom>
          <a:noFill/>
          <a:ln/>
        </p:spPr>
        <p:txBody>
          <a:bodyPr wrap="square" lIns="0" tIns="0" rIns="0" bIns="0" rtlCol="0" anchor="ctr"/>
          <a:lstStyle/>
          <a:p>
            <a:pPr latinLnBrk="1">
              <a:spcAft>
                <a:spcPts val="800"/>
              </a:spcAft>
            </a:pPr>
            <a:r>
              <a:rPr lang="en-US" altLang="ko-KR" sz="35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Remaining Tasks</a:t>
            </a:r>
            <a:endParaRPr lang="ko-KR" altLang="ko-KR" sz="35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5" name="Shape 3"/>
          <p:cNvSpPr/>
          <p:nvPr/>
        </p:nvSpPr>
        <p:spPr>
          <a:xfrm>
            <a:off x="548640" y="1742536"/>
            <a:ext cx="11399520" cy="4455791"/>
          </a:xfrm>
          <a:prstGeom prst="rect">
            <a:avLst/>
          </a:prstGeom>
          <a:solidFill>
            <a:srgbClr val="F0F4F8"/>
          </a:solidFill>
          <a:ln w="6350">
            <a:solidFill>
              <a:srgbClr val="CBD5E1"/>
            </a:solidFill>
            <a:prstDash val="solid"/>
          </a:ln>
        </p:spPr>
        <p:txBody>
          <a:bodyPr/>
          <a:lstStyle/>
          <a:p>
            <a:endParaRPr lang="en-US" dirty="0">
              <a:latin typeface="Times New Roman" panose="02020603050405020304" pitchFamily="18" charset="0"/>
              <a:ea typeface="Malgun Gothic Semilight" panose="020B0502040204020203" pitchFamily="34" charset="-128"/>
              <a:cs typeface="Times New Roman" panose="02020603050405020304" pitchFamily="18" charset="0"/>
            </a:endParaRPr>
          </a:p>
        </p:txBody>
      </p:sp>
      <p:sp>
        <p:nvSpPr>
          <p:cNvPr id="6" name="Text 4"/>
          <p:cNvSpPr/>
          <p:nvPr/>
        </p:nvSpPr>
        <p:spPr>
          <a:xfrm>
            <a:off x="670560" y="2201480"/>
            <a:ext cx="10178143" cy="2455040"/>
          </a:xfrm>
          <a:prstGeom prst="rect">
            <a:avLst/>
          </a:prstGeom>
          <a:noFill/>
          <a:ln/>
        </p:spPr>
        <p:txBody>
          <a:bodyPr wrap="square" rtlCol="0" anchor="t"/>
          <a:lstStyle/>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9" name="Shape 6">
            <a:extLst>
              <a:ext uri="{FF2B5EF4-FFF2-40B4-BE49-F238E27FC236}">
                <a16:creationId xmlns:a16="http://schemas.microsoft.com/office/drawing/2014/main" id="{A399B317-D497-B250-0807-31377B512723}"/>
              </a:ext>
            </a:extLst>
          </p:cNvPr>
          <p:cNvSpPr/>
          <p:nvPr/>
        </p:nvSpPr>
        <p:spPr>
          <a:xfrm>
            <a:off x="755674" y="2003609"/>
            <a:ext cx="6094563" cy="3362021"/>
          </a:xfrm>
          <a:prstGeom prst="rect">
            <a:avLst/>
          </a:prstGeom>
          <a:solidFill>
            <a:srgbClr val="FFFFFF"/>
          </a:solidFill>
          <a:ln w="19050">
            <a:solidFill>
              <a:srgbClr val="1C7293"/>
            </a:solidFill>
            <a:prstDash val="dash"/>
          </a:ln>
        </p:spPr>
        <p:txBody>
          <a:bodyPr/>
          <a:lstStyle/>
          <a:p>
            <a:endParaRPr lang="en-US">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AA3B2D3-7F20-43A9-81EC-0BE52AF60F45}"/>
              </a:ext>
            </a:extLst>
          </p:cNvPr>
          <p:cNvSpPr txBox="1"/>
          <p:nvPr/>
        </p:nvSpPr>
        <p:spPr>
          <a:xfrm>
            <a:off x="840789" y="2201480"/>
            <a:ext cx="5473747" cy="2995692"/>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Select the digital human avatar framework.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Integrate avatar rendering into the existing React frontend.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Replace the current animated emotion orb with the avatar.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Synchronize lip movement with generated speech audio.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Connect facial expressions to the detected emotional state.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11" name="Shape 6">
            <a:extLst>
              <a:ext uri="{FF2B5EF4-FFF2-40B4-BE49-F238E27FC236}">
                <a16:creationId xmlns:a16="http://schemas.microsoft.com/office/drawing/2014/main" id="{2293E725-256D-FB21-D644-81AE0FC5E399}"/>
              </a:ext>
            </a:extLst>
          </p:cNvPr>
          <p:cNvSpPr/>
          <p:nvPr/>
        </p:nvSpPr>
        <p:spPr>
          <a:xfrm>
            <a:off x="6935352" y="2018315"/>
            <a:ext cx="4856958" cy="3362021"/>
          </a:xfrm>
          <a:prstGeom prst="rect">
            <a:avLst/>
          </a:prstGeom>
          <a:solidFill>
            <a:srgbClr val="FFFFFF"/>
          </a:solidFill>
          <a:ln w="19050">
            <a:solidFill>
              <a:srgbClr val="1C7293"/>
            </a:solidFill>
            <a:prstDash val="dash"/>
          </a:ln>
        </p:spPr>
        <p:txBody>
          <a:bodyPr/>
          <a:lstStyle/>
          <a:p>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5FA1FA2-ACE0-363B-EEC4-1773B502154D}"/>
              </a:ext>
            </a:extLst>
          </p:cNvPr>
          <p:cNvSpPr txBox="1"/>
          <p:nvPr/>
        </p:nvSpPr>
        <p:spPr>
          <a:xfrm>
            <a:off x="7057271" y="2692215"/>
            <a:ext cx="4379055" cy="1405513"/>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Configure gesture animations.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Optimize real-time avatar rendering.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Perform complete end-to-end integration testing.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1959387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731520" cy="457200"/>
          </a:xfrm>
          <a:prstGeom prst="rect">
            <a:avLst/>
          </a:prstGeom>
          <a:noFill/>
          <a:ln/>
        </p:spPr>
        <p:txBody>
          <a:bodyPr wrap="square" rtlCol="0" anchor="ctr"/>
          <a:lstStyle/>
          <a:p>
            <a:pPr marL="0" indent="0">
              <a:buNone/>
            </a:pPr>
            <a:r>
              <a:rPr lang="en-US" sz="1400" b="1" dirty="0">
                <a:solidFill>
                  <a:srgbClr val="F59E0B"/>
                </a:solidFill>
                <a:latin typeface="Times New Roman" panose="02020603050405020304" pitchFamily="18" charset="0"/>
                <a:ea typeface="Consolas" pitchFamily="34" charset="-122"/>
                <a:cs typeface="Times New Roman" panose="02020603050405020304" pitchFamily="18" charset="0"/>
              </a:rPr>
              <a:t>08</a:t>
            </a:r>
            <a:endParaRPr lang="en-US" sz="1400" dirty="0">
              <a:latin typeface="Times New Roman" panose="02020603050405020304" pitchFamily="18" charset="0"/>
              <a:cs typeface="Times New Roman" panose="02020603050405020304" pitchFamily="18" charset="0"/>
            </a:endParaRPr>
          </a:p>
        </p:txBody>
      </p:sp>
      <p:sp>
        <p:nvSpPr>
          <p:cNvPr id="3" name="Text 1"/>
          <p:cNvSpPr/>
          <p:nvPr/>
        </p:nvSpPr>
        <p:spPr>
          <a:xfrm>
            <a:off x="548640" y="777240"/>
            <a:ext cx="10972800" cy="640080"/>
          </a:xfrm>
          <a:prstGeom prst="rect">
            <a:avLst/>
          </a:prstGeom>
          <a:noFill/>
          <a:ln/>
        </p:spPr>
        <p:txBody>
          <a:bodyPr wrap="square" lIns="0" tIns="0" rIns="0" bIns="0" rtlCol="0" anchor="ctr"/>
          <a:lstStyle/>
          <a:p>
            <a:pPr latinLnBrk="1">
              <a:spcAft>
                <a:spcPts val="800"/>
              </a:spcAft>
            </a:pPr>
            <a:r>
              <a:rPr lang="en-US" altLang="ko-KR" sz="4000" b="1" kern="100" dirty="0">
                <a:solidFill>
                  <a:srgbClr val="065A82"/>
                </a:solidFill>
                <a:latin typeface="Times New Roman" panose="02020603050405020304" pitchFamily="18" charset="0"/>
                <a:ea typeface="맑은 고딕" panose="020B0503020000020004" pitchFamily="50" charset="-127"/>
                <a:cs typeface="Times New Roman" panose="02020603050405020304" pitchFamily="18" charset="0"/>
              </a:rPr>
              <a:t>C</a:t>
            </a:r>
            <a:r>
              <a:rPr lang="en-US" altLang="ko-KR" sz="4000" b="1"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rPr>
              <a:t>onclusion</a:t>
            </a:r>
            <a:endParaRPr lang="ko-KR" altLang="ko-KR" sz="4000" kern="100" dirty="0">
              <a:solidFill>
                <a:srgbClr val="065A82"/>
              </a:solidFill>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5" name="Shape 3"/>
          <p:cNvSpPr/>
          <p:nvPr/>
        </p:nvSpPr>
        <p:spPr>
          <a:xfrm>
            <a:off x="548640" y="1742536"/>
            <a:ext cx="11399520" cy="4455791"/>
          </a:xfrm>
          <a:prstGeom prst="rect">
            <a:avLst/>
          </a:prstGeom>
          <a:solidFill>
            <a:srgbClr val="F0F4F8"/>
          </a:solidFill>
          <a:ln w="6350">
            <a:solidFill>
              <a:srgbClr val="CBD5E1"/>
            </a:solidFill>
            <a:prstDash val="solid"/>
          </a:ln>
        </p:spPr>
        <p:txBody>
          <a:bodyPr/>
          <a:lstStyle/>
          <a:p>
            <a:endParaRPr lang="en-US" dirty="0">
              <a:latin typeface="Times New Roman" panose="02020603050405020304" pitchFamily="18" charset="0"/>
              <a:ea typeface="Malgun Gothic Semilight" panose="020B0502040204020203" pitchFamily="34" charset="-128"/>
              <a:cs typeface="Times New Roman" panose="02020603050405020304" pitchFamily="18" charset="0"/>
            </a:endParaRPr>
          </a:p>
        </p:txBody>
      </p:sp>
      <p:sp>
        <p:nvSpPr>
          <p:cNvPr id="6" name="Text 4"/>
          <p:cNvSpPr/>
          <p:nvPr/>
        </p:nvSpPr>
        <p:spPr>
          <a:xfrm>
            <a:off x="670560" y="2201480"/>
            <a:ext cx="10178143" cy="2455040"/>
          </a:xfrm>
          <a:prstGeom prst="rect">
            <a:avLst/>
          </a:prstGeom>
          <a:noFill/>
          <a:ln/>
        </p:spPr>
        <p:txBody>
          <a:bodyPr wrap="square" rtlCol="0" anchor="t"/>
          <a:lstStyle/>
          <a:p>
            <a:pPr marL="285750" indent="-285750">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4" name="Shape 6">
            <a:extLst>
              <a:ext uri="{FF2B5EF4-FFF2-40B4-BE49-F238E27FC236}">
                <a16:creationId xmlns:a16="http://schemas.microsoft.com/office/drawing/2014/main" id="{5305342A-7695-CD9E-0D73-E04F48AA6942}"/>
              </a:ext>
            </a:extLst>
          </p:cNvPr>
          <p:cNvSpPr/>
          <p:nvPr/>
        </p:nvSpPr>
        <p:spPr>
          <a:xfrm>
            <a:off x="674206" y="1927911"/>
            <a:ext cx="5179392" cy="3933643"/>
          </a:xfrm>
          <a:prstGeom prst="rect">
            <a:avLst/>
          </a:prstGeom>
          <a:solidFill>
            <a:srgbClr val="FFFFFF"/>
          </a:solidFill>
          <a:ln w="19050">
            <a:solidFill>
              <a:srgbClr val="1C7293"/>
            </a:solidFill>
            <a:prstDash val="dash"/>
          </a:ln>
        </p:spPr>
        <p:txBody>
          <a:bodyPr/>
          <a:lstStyle/>
          <a:p>
            <a:endParaRPr lang="en-US">
              <a:latin typeface="Times New Roman" panose="02020603050405020304" pitchFamily="18" charset="0"/>
              <a:cs typeface="Times New Roman" panose="02020603050405020304" pitchFamily="18" charset="0"/>
            </a:endParaRPr>
          </a:p>
        </p:txBody>
      </p:sp>
      <p:sp>
        <p:nvSpPr>
          <p:cNvPr id="11" name="Shape 6">
            <a:extLst>
              <a:ext uri="{FF2B5EF4-FFF2-40B4-BE49-F238E27FC236}">
                <a16:creationId xmlns:a16="http://schemas.microsoft.com/office/drawing/2014/main" id="{3F1693B0-C081-C655-BB53-403B03FD2E6B}"/>
              </a:ext>
            </a:extLst>
          </p:cNvPr>
          <p:cNvSpPr/>
          <p:nvPr/>
        </p:nvSpPr>
        <p:spPr>
          <a:xfrm>
            <a:off x="6175682" y="1927912"/>
            <a:ext cx="5772478" cy="3933643"/>
          </a:xfrm>
          <a:prstGeom prst="rect">
            <a:avLst/>
          </a:prstGeom>
          <a:solidFill>
            <a:srgbClr val="FFFFFF"/>
          </a:solidFill>
          <a:ln w="19050">
            <a:solidFill>
              <a:srgbClr val="1C7293"/>
            </a:solidFill>
            <a:prstDash val="dash"/>
          </a:ln>
        </p:spPr>
        <p:txBody>
          <a:bodyPr/>
          <a:lstStyle/>
          <a:p>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4B8A5AA-8AF3-6DE6-3348-65653AE91197}"/>
              </a:ext>
            </a:extLst>
          </p:cNvPr>
          <p:cNvSpPr txBox="1"/>
          <p:nvPr/>
        </p:nvSpPr>
        <p:spPr>
          <a:xfrm>
            <a:off x="6248400" y="1946543"/>
            <a:ext cx="5466000" cy="3518912"/>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The current system provides end-to-end bilingual counseling through text and voice while maintaining conversational context and retrieval-grounded responses. </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sz="1800" b="1" kern="100" dirty="0">
                <a:effectLst/>
                <a:latin typeface="Times New Roman" panose="02020603050405020304" pitchFamily="18" charset="0"/>
                <a:ea typeface="맑은 고딕" panose="020B0503020000020004" pitchFamily="50" charset="-127"/>
                <a:cs typeface="Times New Roman" panose="02020603050405020304" pitchFamily="18" charset="0"/>
              </a:rPr>
              <a:t>The only remaining task from the original project proposal is the Digital Human Avatar integration</a:t>
            </a:r>
            <a:r>
              <a:rPr lang="en-US"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rPr>
              <a:t>, which consists of avatar rendering, lip synchronization, facial expression generation, and gesture animation. Once this visual layer is connected to the existing speech and emotion pipelines, the project will fully match the architecture proposed at the beginning of the project.</a:t>
            </a:r>
            <a:endParaRPr lang="ko-KR" altLang="ko-KR" sz="1800"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
        <p:nvSpPr>
          <p:cNvPr id="13" name="TextBox 12">
            <a:extLst>
              <a:ext uri="{FF2B5EF4-FFF2-40B4-BE49-F238E27FC236}">
                <a16:creationId xmlns:a16="http://schemas.microsoft.com/office/drawing/2014/main" id="{C1C614E1-F126-99D3-1164-D753260CE26E}"/>
              </a:ext>
            </a:extLst>
          </p:cNvPr>
          <p:cNvSpPr txBox="1"/>
          <p:nvPr/>
        </p:nvSpPr>
        <p:spPr>
          <a:xfrm>
            <a:off x="674206" y="2022802"/>
            <a:ext cx="5042427" cy="3518912"/>
          </a:xfrm>
          <a:prstGeom prst="rect">
            <a:avLst/>
          </a:prstGeom>
          <a:noFill/>
        </p:spPr>
        <p:txBody>
          <a:bodyPr wrap="square">
            <a:spAutoFit/>
          </a:bodyPr>
          <a:lstStyle/>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The proposed </a:t>
            </a:r>
            <a:r>
              <a:rPr lang="en-US" altLang="ko-KR" b="1" kern="100" dirty="0">
                <a:effectLst/>
                <a:latin typeface="Times New Roman" panose="02020603050405020304" pitchFamily="18" charset="0"/>
                <a:ea typeface="맑은 고딕" panose="020B0503020000020004" pitchFamily="50" charset="-127"/>
                <a:cs typeface="Times New Roman" panose="02020603050405020304" pitchFamily="18" charset="0"/>
              </a:rPr>
              <a:t>LLM-RAG Digital Human Counseling System</a:t>
            </a: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 has been successfully implemented as a fully operational counseling platform.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a:p>
            <a:pPr marL="342900" lvl="0" indent="-342900" latinLnBrk="1">
              <a:spcAft>
                <a:spcPts val="800"/>
              </a:spcAft>
              <a:buSzPts val="1000"/>
              <a:buFont typeface="Symbol" panose="05050102010706020507" pitchFamily="18" charset="2"/>
              <a:buChar char=""/>
              <a:tabLst>
                <a:tab pos="457200" algn="l"/>
              </a:tabLst>
            </a:pP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Core AI components including the </a:t>
            </a:r>
            <a:r>
              <a:rPr lang="en-US" altLang="ko-KR" kern="100" dirty="0" err="1">
                <a:effectLst/>
                <a:latin typeface="Times New Roman" panose="02020603050405020304" pitchFamily="18" charset="0"/>
                <a:ea typeface="맑은 고딕" panose="020B0503020000020004" pitchFamily="50" charset="-127"/>
                <a:cs typeface="Times New Roman" panose="02020603050405020304" pitchFamily="18" charset="0"/>
              </a:rPr>
              <a:t>LoRA</a:t>
            </a: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 fine-tuned Meta Llama 3.2 3B Instruct model, nomic-embed-text embeddings, </a:t>
            </a:r>
            <a:r>
              <a:rPr lang="en-US" altLang="ko-KR" kern="100" dirty="0" err="1">
                <a:effectLst/>
                <a:latin typeface="Times New Roman" panose="02020603050405020304" pitchFamily="18" charset="0"/>
                <a:ea typeface="맑은 고딕" panose="020B0503020000020004" pitchFamily="50" charset="-127"/>
                <a:cs typeface="Times New Roman" panose="02020603050405020304" pitchFamily="18" charset="0"/>
              </a:rPr>
              <a:t>ChromaDB</a:t>
            </a:r>
            <a:r>
              <a:rPr lang="en-US" altLang="ko-KR" kern="100" dirty="0">
                <a:effectLst/>
                <a:latin typeface="Times New Roman" panose="02020603050405020304" pitchFamily="18" charset="0"/>
                <a:ea typeface="맑은 고딕" panose="020B0503020000020004" pitchFamily="50" charset="-127"/>
                <a:cs typeface="Times New Roman" panose="02020603050405020304" pitchFamily="18" charset="0"/>
              </a:rPr>
              <a:t> semantic retrieval, faster-whisper speech recognition, pyttsx3 speech synthesis, emotion inference, intent detection, conversation management, and persistent session tracking have been completed and integrated. </a:t>
            </a:r>
            <a:endParaRPr lang="ko-KR" altLang="ko-KR" kern="100" dirty="0">
              <a:effectLst/>
              <a:latin typeface="Times New Roman" panose="02020603050405020304" pitchFamily="18" charset="0"/>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1727229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5A82"/>
        </a:solidFill>
        <a:effectLst/>
      </p:bgPr>
    </p:bg>
    <p:spTree>
      <p:nvGrpSpPr>
        <p:cNvPr id="1" name="">
          <a:extLst>
            <a:ext uri="{FF2B5EF4-FFF2-40B4-BE49-F238E27FC236}">
              <a16:creationId xmlns:a16="http://schemas.microsoft.com/office/drawing/2014/main" id="{502C0ED4-4F53-CC8A-7F23-C3091CE46584}"/>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E725E81-00DD-119C-08B6-710238E946BB}"/>
              </a:ext>
            </a:extLst>
          </p:cNvPr>
          <p:cNvSpPr/>
          <p:nvPr/>
        </p:nvSpPr>
        <p:spPr>
          <a:xfrm>
            <a:off x="818606" y="2788919"/>
            <a:ext cx="10047132" cy="457200"/>
          </a:xfrm>
          <a:prstGeom prst="rect">
            <a:avLst/>
          </a:prstGeom>
          <a:noFill/>
          <a:ln/>
        </p:spPr>
        <p:txBody>
          <a:bodyPr wrap="square" rtlCol="0" anchor="ctr"/>
          <a:lstStyle/>
          <a:p>
            <a:r>
              <a:rPr lang="en-US" altLang="ko-KR" sz="4000" b="1" dirty="0">
                <a:solidFill>
                  <a:schemeClr val="bg1"/>
                </a:solidFill>
                <a:latin typeface="Times New Roman" panose="02020603050405020304" pitchFamily="18" charset="0"/>
                <a:cs typeface="Times New Roman" panose="02020603050405020304" pitchFamily="18" charset="0"/>
              </a:rPr>
              <a:t>Thank You</a:t>
            </a:r>
            <a:endParaRPr lang="en-US" sz="4000" dirty="0">
              <a:solidFill>
                <a:schemeClr val="bg1"/>
              </a:solidFill>
              <a:latin typeface="Times New Roman" panose="02020603050405020304" pitchFamily="18" charset="0"/>
              <a:cs typeface="Times New Roman" panose="02020603050405020304" pitchFamily="18" charset="0"/>
            </a:endParaRPr>
          </a:p>
        </p:txBody>
      </p:sp>
      <p:sp>
        <p:nvSpPr>
          <p:cNvPr id="15" name="Shape 3">
            <a:extLst>
              <a:ext uri="{FF2B5EF4-FFF2-40B4-BE49-F238E27FC236}">
                <a16:creationId xmlns:a16="http://schemas.microsoft.com/office/drawing/2014/main" id="{875992E5-1F74-D4E5-D7E1-94959E8C7CE8}"/>
              </a:ext>
            </a:extLst>
          </p:cNvPr>
          <p:cNvSpPr/>
          <p:nvPr/>
        </p:nvSpPr>
        <p:spPr>
          <a:xfrm rot="5400000">
            <a:off x="548637" y="2994215"/>
            <a:ext cx="365761" cy="46609"/>
          </a:xfrm>
          <a:prstGeom prst="rect">
            <a:avLst/>
          </a:prstGeom>
          <a:solidFill>
            <a:srgbClr val="F59E0B"/>
          </a:solidFill>
          <a:ln w="12700">
            <a:solidFill>
              <a:srgbClr val="F59E0B"/>
            </a:solidFill>
            <a:prstDash val="solid"/>
          </a:ln>
        </p:spPr>
        <p:txBody>
          <a:bodyPr/>
          <a:lstStyle/>
          <a:p>
            <a:endParaRPr lang="en-US"/>
          </a:p>
        </p:txBody>
      </p:sp>
    </p:spTree>
    <p:extLst>
      <p:ext uri="{BB962C8B-B14F-4D97-AF65-F5344CB8AC3E}">
        <p14:creationId xmlns:p14="http://schemas.microsoft.com/office/powerpoint/2010/main" val="693878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2795</TotalTime>
  <Words>771</Words>
  <Application>Microsoft Office PowerPoint</Application>
  <PresentationFormat>Widescreen</PresentationFormat>
  <Paragraphs>139</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Malgun Gothic Semilight</vt:lpstr>
      <vt:lpstr>Arial</vt:lpstr>
      <vt:lpstr>Consolas</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Research Report Template</dc:title>
  <dc:subject>PptxGenJS Presentation</dc:subject>
  <dc:creator>Lab Weekly Report</dc:creator>
  <cp:lastModifiedBy>chosun</cp:lastModifiedBy>
  <cp:revision>66</cp:revision>
  <dcterms:created xsi:type="dcterms:W3CDTF">2026-05-18T01:56:13Z</dcterms:created>
  <dcterms:modified xsi:type="dcterms:W3CDTF">2026-08-04T05:50:49Z</dcterms:modified>
</cp:coreProperties>
</file>